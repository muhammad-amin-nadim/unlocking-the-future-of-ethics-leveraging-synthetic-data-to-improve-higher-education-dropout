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1" r:id="rId4"/>
    <p:sldId id="262" r:id="rId5"/>
    <p:sldId id="263" r:id="rId6"/>
    <p:sldId id="264" r:id="rId7"/>
    <p:sldId id="267" r:id="rId8"/>
    <p:sldId id="270" r:id="rId9"/>
    <p:sldId id="269" r:id="rId10"/>
    <p:sldId id="268" r:id="rId11"/>
    <p:sldId id="271" r:id="rId12"/>
    <p:sldId id="266" r:id="rId13"/>
    <p:sldId id="272" r:id="rId14"/>
    <p:sldId id="273" r:id="rId15"/>
    <p:sldId id="274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7E20"/>
    <a:srgbClr val="148A43"/>
    <a:srgbClr val="116DA6"/>
    <a:srgbClr val="61B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42" autoAdjust="0"/>
    <p:restoredTop sz="94660"/>
  </p:normalViewPr>
  <p:slideViewPr>
    <p:cSldViewPr snapToGrid="0">
      <p:cViewPr varScale="1">
        <p:scale>
          <a:sx n="74" d="100"/>
          <a:sy n="74" d="100"/>
        </p:scale>
        <p:origin x="92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2A99F-5774-6F4F-B524-85E253A65A5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3E7496-C132-0D4B-974A-A66170C85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40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C0D6C33-921B-297C-2317-1EB9513409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3309" y="0"/>
            <a:ext cx="12215148" cy="68710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E39F86-7160-49FC-B7EA-AEA4224C9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DB897-3307-45D0-8457-72B3AB421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F67E2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D8EC1-5701-4635-8591-73D157F41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9ED75-25A2-4B2A-ABAD-8D982508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67E20"/>
                </a:solidFill>
              </a:defRPr>
            </a:lvl1pPr>
          </a:lstStyle>
          <a:p>
            <a:fld id="{734F684E-1B95-4161-882B-6878AF3C1E9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983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0118B-4E16-40A6-9F3B-F688D180C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195CC-0CA5-46B3-977F-F1BA330D6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4B5E7-B067-4315-B8A7-515FE089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23AD0C-6C01-224F-B799-4286A627850D}" type="datetime1">
              <a:rPr lang="en-GB" smtClean="0"/>
              <a:t>29/10/2025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B5B32-2EA1-4E95-890B-CCEBFBFC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05013-0934-4A4F-8AE1-0DF980E54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41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7F4E-A557-44BC-BA79-82D1AD7A2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12F1A-88AB-4EBB-B116-B85BA14AF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9BC90-8BFE-47C4-AA38-DFB88A2818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287B2D-F980-7C49-8436-861420294437}" type="datetime1">
              <a:rPr lang="en-GB" smtClean="0"/>
              <a:t>29/10/2025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FE46B-2613-4710-AFE3-A413ECE77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38194-B8F7-43A1-8C88-D49F8EAF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7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522D0-A5FE-4531-ABA8-755241157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334A7-606F-4FAF-B06E-437F44B37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D20A52-CEF4-4055-81BB-1805A35C9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C943D-F3F6-4CAE-B8B1-D65E352102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9C8B2-2AB4-EC48-A06B-2CD01F278F32}" type="datetime1">
              <a:rPr lang="en-GB" smtClean="0"/>
              <a:t>29/10/2025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3EE36-ABAC-4600-B87A-D92D78E5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D5570-764F-4C47-86AD-43D6A40BC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0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2B55C-7159-4CC2-A806-84A2B5BD6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C5247-1790-44F2-9609-AC58B844F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63513-154E-44E5-BCAE-E192EA6E3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05E768-CC82-4973-9A7F-035D00A89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5B6A7F-CF14-4903-9896-ECAB1599F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55EB5A-0AFB-4769-9A36-A874EE9D11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1B5C5E-8BEE-E24F-AA60-90B9F335A1E1}" type="datetime1">
              <a:rPr lang="en-GB" smtClean="0"/>
              <a:t>29/10/2025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E07520-06E6-4B14-9D18-3F9AF5E7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9ECEAA-A874-4591-BE93-1E8A86DA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12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B28D0-0871-425A-B98E-795A62298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7A60B7-D347-49E9-8701-93AC8A40FE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C8AA0C-52E7-D946-B002-2CD8E281D309}" type="datetime1">
              <a:rPr lang="en-GB" smtClean="0"/>
              <a:t>29/10/2025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ED6F4-59E0-4FDD-B890-B9F71371A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410654-8903-4E0E-BC35-57A4BB20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39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B1E21E-7D09-4785-8AB2-7DC632E2CD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75B2E7-8997-174C-B281-D7819D2F7E58}" type="datetime1">
              <a:rPr lang="en-GB" smtClean="0"/>
              <a:t>29/10/2025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B271C6-E98B-41BC-AD21-425E8F3D5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07054-CD29-4E49-914F-B49414349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98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7E6D-E402-481B-B743-6FEA5D9B9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0608A-1E91-42AC-A144-7D6F3A198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1315C7-6A90-4771-B38B-AEDA58CD9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8A799-CC11-4527-8345-888FA9D8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00E723-8B65-6E41-8DD0-547B3BB75A0A}" type="datetime1">
              <a:rPr lang="en-GB" smtClean="0"/>
              <a:t>29/10/2025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C03E2-1415-4032-A8A5-DA6159029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DCCA8-637D-49D3-AD4A-776C61D8A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58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EF2CF-76C2-4D93-9C26-C66BFBA09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804B1C-312C-4E63-AF65-20A8E0BF28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E992E-0170-46EA-A0C4-3938AF245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9E099-2C80-4109-B2E4-BE2E60E1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5489A5-50BF-E740-A12E-BDBB6C3BE0FE}" type="datetime1">
              <a:rPr lang="en-GB" smtClean="0"/>
              <a:t>29/10/2025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02F3F-9582-45D6-822A-8D5395DB5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2B10B-0031-4C40-BB3A-3B111B1B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5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48FE7-ED8A-4B54-A2EB-5379A99B0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8DE82-604A-4B47-A9AE-1E3EFED46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8100E-EA0E-4DDB-8A47-469D2CC14C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C070F0-6C43-E140-A2C2-16EE0EDB7CAD}" type="datetime1">
              <a:rPr lang="en-GB" smtClean="0"/>
              <a:t>29/10/2025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B9AA8-0A9F-4D04-A4BB-90BABAD8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C0A37-3CB7-4B1D-AE67-2E39D69C2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31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7DE1A-FF02-46B1-BDAC-FFB66CDD7E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E4A42-793C-4904-AFB5-119B12163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BA9D5-ADC1-4246-9F08-7754E42D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6356C-CFE4-244A-BC80-A4A367DE9345}" type="datetime1">
              <a:rPr lang="en-GB" smtClean="0"/>
              <a:t>29/10/2025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8537A-CD23-41DA-9347-6C7CB914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0BEE8-1ED3-49C3-9791-4886CCD4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61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370E7C5-E5E3-5C79-E781-8905DC91BA6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3B65D-B2A2-46DB-9F3C-2B067984B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FDFF4-859C-4FE2-86FC-09F2B4743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B877D-E3AE-44BC-A04B-1FF3B36A7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16956" y="6356350"/>
            <a:ext cx="21550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67E2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4C781-3283-40F5-A51D-D0BEF80DB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10100" y="6356350"/>
            <a:ext cx="20407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67E20"/>
                </a:solidFill>
              </a:defRPr>
            </a:lvl1pPr>
          </a:lstStyle>
          <a:p>
            <a:fld id="{734F684E-1B95-4161-882B-6878AF3C1E9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90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48A4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48A4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48A4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48A4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48A4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606.02944" TargetMode="External"/><Relationship Id="rId2" Type="http://schemas.openxmlformats.org/officeDocument/2006/relationships/hyperlink" Target="https://www.aacrao.org/resources/newsletters-blogs/aacrao-connect/article/comparing-ferpa---gdpr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mailto:muhammad.nadim@unipegaso.it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9F21B-65EF-4EC3-B869-43657A870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419" y="2303782"/>
            <a:ext cx="11003972" cy="2370197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Unlocking the Future of Ethics: Leveraging Synthetic Data to Improve Higher Education Dropout Prediction with Machine Learning</a:t>
            </a:r>
            <a:br>
              <a:rPr lang="en-GB" sz="2400" dirty="0">
                <a:solidFill>
                  <a:schemeClr val="accent6">
                    <a:lumMod val="75000"/>
                  </a:schemeClr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</a:br>
            <a:endParaRPr lang="en-US" sz="2400" dirty="0">
              <a:solidFill>
                <a:schemeClr val="accent6">
                  <a:lumMod val="75000"/>
                </a:schemeClr>
              </a:solidFill>
              <a:latin typeface="Poppins SemiBold" panose="00000700000000000000" pitchFamily="50" charset="0"/>
              <a:cs typeface="Poppins SemiBold" panose="00000700000000000000" pitchFamily="50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570567-60F2-4631-BA4E-54E2313E6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5210" y="4265776"/>
            <a:ext cx="7696200" cy="1655762"/>
          </a:xfrm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FF0000"/>
                </a:solidFill>
                <a:latin typeface="Poppins Light" panose="00000400000000000000" pitchFamily="50" charset="0"/>
                <a:cs typeface="Poppins Light" panose="00000400000000000000" pitchFamily="50" charset="0"/>
              </a:rPr>
              <a:t>Muhammad Amin Nadim</a:t>
            </a:r>
            <a:r>
              <a:rPr lang="it-IT" b="1" dirty="0"/>
              <a:t>, </a:t>
            </a:r>
            <a:r>
              <a:rPr lang="it-IT" b="1" dirty="0">
                <a:solidFill>
                  <a:srgbClr val="FF0000"/>
                </a:solidFill>
                <a:latin typeface="Poppins Light" panose="00000400000000000000" pitchFamily="50" charset="0"/>
                <a:cs typeface="Poppins Light" panose="00000400000000000000" pitchFamily="50" charset="0"/>
              </a:rPr>
              <a:t>Emanuele Marsico </a:t>
            </a:r>
          </a:p>
          <a:p>
            <a:r>
              <a:rPr lang="it-IT" b="1" dirty="0">
                <a:solidFill>
                  <a:srgbClr val="FF0000"/>
                </a:solidFill>
                <a:latin typeface="Poppins Light" panose="00000400000000000000" pitchFamily="50" charset="0"/>
                <a:cs typeface="Poppins Light" panose="00000400000000000000" pitchFamily="50" charset="0"/>
              </a:rPr>
              <a:t>Raffaele Di Fuccio</a:t>
            </a:r>
            <a:endParaRPr lang="it-IT" b="1" baseline="30000" dirty="0">
              <a:solidFill>
                <a:srgbClr val="FF0000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Poppins Light" panose="00000400000000000000" pitchFamily="50" charset="0"/>
                <a:cs typeface="Poppins Light" panose="00000400000000000000" pitchFamily="50" charset="0"/>
              </a:rPr>
              <a:t>Pegaso Telematic University &amp; University of Foggia ,Italy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2F7E1-9048-E9F3-1C3B-0BA0A9035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C6FA52-F1D1-C9FA-A487-544363DDF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844" y="6123640"/>
            <a:ext cx="1074765" cy="734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BE81C6-6429-346B-2F69-E5515661C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610" y="6123640"/>
            <a:ext cx="1828800" cy="734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798482-5BA6-4355-CF6B-38F2837911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66" y="6058063"/>
            <a:ext cx="1538344" cy="799937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DDFE63FD-022B-D079-1FFC-93E2663A54E2}"/>
              </a:ext>
            </a:extLst>
          </p:cNvPr>
          <p:cNvSpPr txBox="1">
            <a:spLocks/>
          </p:cNvSpPr>
          <p:nvPr/>
        </p:nvSpPr>
        <p:spPr>
          <a:xfrm>
            <a:off x="4292094" y="2167257"/>
            <a:ext cx="2676742" cy="601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F67E20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148A43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148A43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148A43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148A43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PAPER ID: </a:t>
            </a:r>
            <a:r>
              <a:rPr lang="en-GB" sz="16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2025051026</a:t>
            </a:r>
            <a:endParaRPr lang="en-US" sz="1600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345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99671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97DE-B24F-41DB-AB59-112FB39C5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55774"/>
            <a:ext cx="10675776" cy="4859783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</a:pPr>
            <a:r>
              <a:rPr lang="en-GB" sz="2000" dirty="0">
                <a:latin typeface="Poppins" panose="00000500000000000000" pitchFamily="50" charset="0"/>
                <a:cs typeface="Poppins" panose="00000500000000000000" pitchFamily="50" charset="0"/>
              </a:rPr>
              <a:t>Higher Education Student dropout is critical global concern for academic quality, institutional sustainability, and educational equity (Rabelo et al., 2025)</a:t>
            </a:r>
          </a:p>
          <a:p>
            <a:pPr algn="just">
              <a:lnSpc>
                <a:spcPct val="110000"/>
              </a:lnSpc>
            </a:pPr>
            <a:r>
              <a:rPr lang="en-US" sz="2000" dirty="0">
                <a:latin typeface="Poppins" panose="00000500000000000000" pitchFamily="50" charset="0"/>
                <a:cs typeface="Poppins" panose="00000500000000000000" pitchFamily="50" charset="0"/>
              </a:rPr>
              <a:t>Although Higher Education dropout research spans decades and modern predictive modeling still grapples with challenges such as data sparsity, privacy constraints (V. Tinto et al., 1975, Trinidad et al., 2022).</a:t>
            </a:r>
          </a:p>
          <a:p>
            <a:pPr>
              <a:lnSpc>
                <a:spcPct val="110000"/>
              </a:lnSpc>
            </a:pPr>
            <a:r>
              <a:rPr lang="en-GB" sz="2000" dirty="0">
                <a:latin typeface="Poppins" panose="00000500000000000000" pitchFamily="50" charset="0"/>
                <a:cs typeface="Poppins" panose="00000500000000000000" pitchFamily="50" charset="0"/>
              </a:rPr>
              <a:t>Real student data is increasingly restricted by GDPR and FERPA, limiting machine learning innovation.</a:t>
            </a:r>
            <a:r>
              <a:rPr lang="en-GB" sz="2000" dirty="0"/>
              <a:t> (AACRAO 2025).</a:t>
            </a:r>
            <a:endParaRPr lang="en-US" sz="2000" dirty="0">
              <a:latin typeface="Poppins" panose="00000500000000000000" pitchFamily="50" charset="0"/>
              <a:cs typeface="Poppins" panose="00000500000000000000" pitchFamily="50" charset="0"/>
            </a:endParaRPr>
          </a:p>
          <a:p>
            <a:pPr>
              <a:lnSpc>
                <a:spcPct val="110000"/>
              </a:lnSpc>
            </a:pPr>
            <a:r>
              <a:rPr lang="en-GB" sz="2000" dirty="0">
                <a:latin typeface="Poppins" panose="00000500000000000000" pitchFamily="50" charset="0"/>
                <a:cs typeface="Poppins" panose="00000500000000000000" pitchFamily="50" charset="0"/>
              </a:rPr>
              <a:t>The solution is  synthetic data generation; but not just technically, theoretically and ethically guided.</a:t>
            </a:r>
            <a:endParaRPr lang="en-US" sz="2000" dirty="0">
              <a:latin typeface="Poppins" panose="00000500000000000000" pitchFamily="50" charset="0"/>
              <a:cs typeface="Poppins" panose="00000500000000000000" pitchFamily="50" charset="0"/>
            </a:endParaRPr>
          </a:p>
          <a:p>
            <a:pPr>
              <a:lnSpc>
                <a:spcPct val="110000"/>
              </a:lnSpc>
            </a:pPr>
            <a:r>
              <a:rPr lang="en-GB" sz="2100" dirty="0">
                <a:latin typeface="Poppins" panose="00000500000000000000" pitchFamily="50" charset="0"/>
                <a:cs typeface="Poppins" panose="00000500000000000000" pitchFamily="50" charset="0"/>
              </a:rPr>
              <a:t>CEDA (Constructivist–Ethical Data Augmentation); a proposed framework  presents a human-</a:t>
            </a:r>
            <a:r>
              <a:rPr lang="en-GB" sz="2100" dirty="0" err="1">
                <a:latin typeface="Poppins" panose="00000500000000000000" pitchFamily="50" charset="0"/>
                <a:cs typeface="Poppins" panose="00000500000000000000" pitchFamily="50" charset="0"/>
              </a:rPr>
              <a:t>centered</a:t>
            </a:r>
            <a:r>
              <a:rPr lang="en-GB" sz="2100" dirty="0">
                <a:latin typeface="Poppins" panose="00000500000000000000" pitchFamily="50" charset="0"/>
                <a:cs typeface="Poppins" panose="00000500000000000000" pitchFamily="50" charset="0"/>
              </a:rPr>
              <a:t>, ethically aligned, theory-informed AI approach for dropout prediction.</a:t>
            </a:r>
          </a:p>
          <a:p>
            <a:pPr>
              <a:lnSpc>
                <a:spcPct val="110000"/>
              </a:lnSpc>
            </a:pPr>
            <a:r>
              <a:rPr lang="en-GB" sz="2100" dirty="0">
                <a:latin typeface="Poppins" panose="00000500000000000000" pitchFamily="50" charset="0"/>
                <a:cs typeface="Poppins" panose="00000500000000000000" pitchFamily="50" charset="0"/>
              </a:rPr>
              <a:t>Overall Focus of this work to  integrates learning theory with responsible AI ; redefining dropout prediction as both a technical and educational challenge.</a:t>
            </a:r>
            <a:endParaRPr lang="en-US" sz="2100" dirty="0"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5CEAC-CB50-27E6-B62E-D8F23ADD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089893-104F-CB24-886A-B3E2CF4F3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844" y="6123640"/>
            <a:ext cx="1074765" cy="734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AD425E-5045-6525-5116-A04DC09EF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610" y="6123640"/>
            <a:ext cx="1828800" cy="734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404D5B-02EC-D250-C700-6E783A6E33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66" y="6058063"/>
            <a:ext cx="1538344" cy="7999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9B04C5-FDF7-B23E-A6B1-35C2E463FEF3}"/>
              </a:ext>
            </a:extLst>
          </p:cNvPr>
          <p:cNvSpPr txBox="1"/>
          <p:nvPr/>
        </p:nvSpPr>
        <p:spPr>
          <a:xfrm>
            <a:off x="838199" y="5771394"/>
            <a:ext cx="982287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/>
              <a:t>*American Association of Collegiate Registrars and Admissions Officers (AACRAO)     *Family Educational Rights and Privacy Act (FERPA) in USA     *General Data Protection Regulation (GDPR) in Europe</a:t>
            </a:r>
          </a:p>
        </p:txBody>
      </p:sp>
    </p:spTree>
    <p:extLst>
      <p:ext uri="{BB962C8B-B14F-4D97-AF65-F5344CB8AC3E}">
        <p14:creationId xmlns:p14="http://schemas.microsoft.com/office/powerpoint/2010/main" val="281060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D5BD7-7107-B9D4-65B8-FBE247D7C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C057C-7B98-F919-ECE9-4AA672CF8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4180"/>
            <a:ext cx="10515600" cy="1110439"/>
          </a:xfrm>
        </p:spPr>
        <p:txBody>
          <a:bodyPr/>
          <a:lstStyle/>
          <a:p>
            <a:r>
              <a:rPr lang="en-GB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Why This Study is Important</a:t>
            </a:r>
            <a:endParaRPr lang="en-US" dirty="0">
              <a:latin typeface="Poppins SemiBold" panose="00000700000000000000" pitchFamily="50" charset="0"/>
              <a:cs typeface="Poppins SemiBold" panose="00000700000000000000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49762-8FDD-ED37-5CFE-9CB76C510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41169"/>
            <a:ext cx="10675776" cy="4830225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Key Problems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1.</a:t>
            </a: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 High Dropout Rates:</a:t>
            </a: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 12% in 1st year  and  23% by 3rd year across OECD nations.(OECD 2022)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2. </a:t>
            </a: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Limited Data Access:</a:t>
            </a: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 GDPR &amp; FERPA restrict authentic learner data.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3.</a:t>
            </a: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 Algorithmic Bias: </a:t>
            </a: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Models often amplify social or gender disparities.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4.</a:t>
            </a: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 Lack of Theoretical Depth: </a:t>
            </a: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Most predictive models ignore motivation, self-efficacy, or context.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5. </a:t>
            </a: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Ethical Deficit:</a:t>
            </a: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 Few frameworks ensure fairness, privacy, and transparency simultaneously.</a:t>
            </a:r>
          </a:p>
          <a:p>
            <a:pPr algn="just">
              <a:lnSpc>
                <a:spcPct val="11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Why It Matters: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1.Predictive models directly affect student lives  and must be trustworthy, interpretable, and fair.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2.CEDA bridges the gap between pedagogy, psychology, and AI ethics.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3.It moves from black-box accuracy  to transparent, theory-driven accountability.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600" b="1" dirty="0">
                <a:latin typeface="Poppins" panose="00000500000000000000" pitchFamily="2" charset="0"/>
                <a:cs typeface="Poppins" panose="00000500000000000000" pitchFamily="2" charset="0"/>
              </a:rPr>
              <a:t>This work demonstrates that data ethics and educational empathy can coexist with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600" b="1" dirty="0">
                <a:latin typeface="Poppins" panose="00000500000000000000" pitchFamily="2" charset="0"/>
                <a:cs typeface="Poppins" panose="00000500000000000000" pitchFamily="2" charset="0"/>
              </a:rPr>
              <a:t>high model accuracy</a:t>
            </a:r>
            <a:r>
              <a:rPr lang="en-GB" sz="1600" b="1" dirty="0"/>
              <a:t>.</a:t>
            </a:r>
            <a:endParaRPr lang="en-US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B5111-17BB-66A8-6099-09E4852A1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F1FE1B-FA17-6FBE-82D5-FF281A135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844" y="6123640"/>
            <a:ext cx="1074765" cy="734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411EA4-B5A5-58F8-C517-3B64BD686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610" y="6123640"/>
            <a:ext cx="1828800" cy="734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210789-6C29-B807-21E1-F6A969B467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66" y="6058063"/>
            <a:ext cx="1538344" cy="7999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793C61-3B2D-62FF-20A9-4173AF496729}"/>
              </a:ext>
            </a:extLst>
          </p:cNvPr>
          <p:cNvSpPr txBox="1"/>
          <p:nvPr/>
        </p:nvSpPr>
        <p:spPr>
          <a:xfrm>
            <a:off x="838199" y="5771394"/>
            <a:ext cx="982287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/>
              <a:t>*Organisation for Economic Co-operation and Development (OECD)     *Family Educational Rights and Privacy Act (FERPA) in USA     *General Data Protection Regulation (GDPR) in Europe</a:t>
            </a:r>
          </a:p>
        </p:txBody>
      </p:sp>
    </p:spTree>
    <p:extLst>
      <p:ext uri="{BB962C8B-B14F-4D97-AF65-F5344CB8AC3E}">
        <p14:creationId xmlns:p14="http://schemas.microsoft.com/office/powerpoint/2010/main" val="3350368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85D4B-1ACA-D318-4C51-D2EE727D2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9642B-88D0-CD3A-33B3-CF99095DA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4180"/>
            <a:ext cx="10515600" cy="1110439"/>
          </a:xfrm>
        </p:spPr>
        <p:txBody>
          <a:bodyPr/>
          <a:lstStyle/>
          <a:p>
            <a:r>
              <a:rPr lang="en-GB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Research Purpose and Objectives</a:t>
            </a:r>
            <a:endParaRPr lang="en-US" dirty="0">
              <a:latin typeface="Poppins SemiBold" panose="00000700000000000000" pitchFamily="50" charset="0"/>
              <a:cs typeface="Poppins SemiBold" panose="00000700000000000000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20803-2419-BF60-EDE6-E8F593617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1312"/>
            <a:ext cx="10675776" cy="4830225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Aim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To design an ethical, theory-informed, and privacy-preserving AI framework for higher education student's dropout prediction using synthetic data enriched with psychological constructs.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GB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>
              <a:lnSpc>
                <a:spcPct val="11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Objectives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1. </a:t>
            </a: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Develop a constructivist–ethical augmentation pipeline combining Self-Determination Theory (SDT) and Constructivist Learning Theory (CLT).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2. </a:t>
            </a: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Generate synthetic yet educationally meaningful data using CTGAN &amp; TVAE.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3. </a:t>
            </a:r>
            <a:r>
              <a:rPr lang="fr-FR" sz="1800" dirty="0">
                <a:latin typeface="Poppins" panose="00000500000000000000" pitchFamily="2" charset="0"/>
                <a:cs typeface="Poppins" panose="00000500000000000000" pitchFamily="2" charset="0"/>
              </a:rPr>
              <a:t>Train </a:t>
            </a:r>
            <a:r>
              <a:rPr lang="fr-FR" sz="1800" dirty="0" err="1">
                <a:latin typeface="Poppins" panose="00000500000000000000" pitchFamily="2" charset="0"/>
                <a:cs typeface="Poppins" panose="00000500000000000000" pitchFamily="2" charset="0"/>
              </a:rPr>
              <a:t>interpretable</a:t>
            </a:r>
            <a:r>
              <a:rPr lang="fr-FR" sz="1800" dirty="0">
                <a:latin typeface="Poppins" panose="00000500000000000000" pitchFamily="2" charset="0"/>
                <a:cs typeface="Poppins" panose="00000500000000000000" pitchFamily="2" charset="0"/>
              </a:rPr>
              <a:t> ensemble </a:t>
            </a:r>
            <a:r>
              <a:rPr lang="fr-FR" sz="1800" dirty="0" err="1">
                <a:latin typeface="Poppins" panose="00000500000000000000" pitchFamily="2" charset="0"/>
                <a:cs typeface="Poppins" panose="00000500000000000000" pitchFamily="2" charset="0"/>
              </a:rPr>
              <a:t>models</a:t>
            </a:r>
            <a:r>
              <a:rPr lang="fr-FR" sz="1800" dirty="0">
                <a:latin typeface="Poppins" panose="00000500000000000000" pitchFamily="2" charset="0"/>
                <a:cs typeface="Poppins" panose="00000500000000000000" pitchFamily="2" charset="0"/>
              </a:rPr>
              <a:t> (</a:t>
            </a:r>
            <a:r>
              <a:rPr lang="fr-FR" sz="1800" dirty="0" err="1">
                <a:latin typeface="Poppins" panose="00000500000000000000" pitchFamily="2" charset="0"/>
                <a:cs typeface="Poppins" panose="00000500000000000000" pitchFamily="2" charset="0"/>
              </a:rPr>
              <a:t>LightGBM</a:t>
            </a:r>
            <a:r>
              <a:rPr lang="fr-FR" sz="1800" dirty="0">
                <a:latin typeface="Poppins" panose="00000500000000000000" pitchFamily="2" charset="0"/>
                <a:cs typeface="Poppins" panose="00000500000000000000" pitchFamily="2" charset="0"/>
              </a:rPr>
              <a:t>, RF, </a:t>
            </a:r>
            <a:r>
              <a:rPr lang="fr-FR" sz="1800" dirty="0" err="1">
                <a:latin typeface="Poppins" panose="00000500000000000000" pitchFamily="2" charset="0"/>
                <a:cs typeface="Poppins" panose="00000500000000000000" pitchFamily="2" charset="0"/>
              </a:rPr>
              <a:t>XGBoost</a:t>
            </a:r>
            <a:r>
              <a:rPr lang="fr-FR" sz="1800" dirty="0">
                <a:latin typeface="Poppins" panose="00000500000000000000" pitchFamily="2" charset="0"/>
                <a:cs typeface="Poppins" panose="00000500000000000000" pitchFamily="2" charset="0"/>
              </a:rPr>
              <a:t>).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4. </a:t>
            </a: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Evaluate fairness, accuracy, and transparency using DPD, and SHAP.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5. </a:t>
            </a: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Validate whether synthetic data can ethically rival real datasets.</a:t>
            </a:r>
            <a:endParaRPr lang="fr-F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 algn="just">
              <a:lnSpc>
                <a:spcPct val="110000"/>
              </a:lnSpc>
              <a:buAutoNum type="arabicPeriod"/>
            </a:pPr>
            <a:endParaRPr lang="en-GB" sz="1800" dirty="0"/>
          </a:p>
          <a:p>
            <a:pPr marL="0" indent="0" algn="just">
              <a:lnSpc>
                <a:spcPct val="110000"/>
              </a:lnSpc>
              <a:buNone/>
            </a:pPr>
            <a:endParaRPr lang="en-US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C6F3C-B9A4-4698-00FA-29D94365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E84AD1-9F4D-E5CF-7D4A-CD78A15CD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844" y="6123640"/>
            <a:ext cx="1074765" cy="734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35A196-B0B6-8BF4-DA48-D067A8459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610" y="6123640"/>
            <a:ext cx="1828800" cy="734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117C4A-2898-B9BE-33E0-0A46971819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66" y="6058063"/>
            <a:ext cx="1538344" cy="7999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0BB31D-C0C4-5DBB-1584-ACF9CF281559}"/>
              </a:ext>
            </a:extLst>
          </p:cNvPr>
          <p:cNvSpPr txBox="1"/>
          <p:nvPr/>
        </p:nvSpPr>
        <p:spPr>
          <a:xfrm>
            <a:off x="838199" y="5771394"/>
            <a:ext cx="9822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/>
              <a:t>*</a:t>
            </a:r>
            <a:r>
              <a:rPr lang="en-US" b="1" dirty="0"/>
              <a:t> </a:t>
            </a:r>
            <a:r>
              <a:rPr lang="en-US" sz="900" dirty="0"/>
              <a:t>Demographic Parity Difference </a:t>
            </a:r>
            <a:r>
              <a:rPr lang="en-GB" sz="900" dirty="0"/>
              <a:t>(DPD)     *Conditional Tabular </a:t>
            </a:r>
            <a:r>
              <a:rPr lang="en-US" sz="900" dirty="0"/>
              <a:t>Generative Adversarial Networks (GANs) </a:t>
            </a:r>
            <a:r>
              <a:rPr lang="en-GB" sz="900" dirty="0"/>
              <a:t>(CTGAN)     *</a:t>
            </a:r>
            <a:r>
              <a:rPr lang="en-US" sz="900" dirty="0"/>
              <a:t>Tabular Variational Autoencoders (TVAE)</a:t>
            </a:r>
            <a:r>
              <a:rPr lang="en-GB" sz="9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8501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02306-0E90-5551-9A14-E81CBCEA2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B836C-2790-24B3-E18C-45FBCBFB5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4180"/>
            <a:ext cx="10515600" cy="1110439"/>
          </a:xfrm>
        </p:spPr>
        <p:txBody>
          <a:bodyPr/>
          <a:lstStyle/>
          <a:p>
            <a:r>
              <a:rPr lang="en-US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R</a:t>
            </a:r>
            <a:r>
              <a:rPr lang="en-GB" dirty="0" err="1">
                <a:latin typeface="Poppins SemiBold" panose="00000700000000000000" pitchFamily="50" charset="0"/>
                <a:cs typeface="Poppins SemiBold" panose="00000700000000000000" pitchFamily="50" charset="0"/>
              </a:rPr>
              <a:t>esearch</a:t>
            </a:r>
            <a:r>
              <a:rPr lang="en-GB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Questions Focused </a:t>
            </a:r>
            <a:endParaRPr lang="en-US" dirty="0">
              <a:latin typeface="Poppins SemiBold" panose="00000700000000000000" pitchFamily="50" charset="0"/>
              <a:cs typeface="Poppins SemiBold" panose="00000700000000000000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3C1A3-2B38-524C-2B11-BE8DD1497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1312"/>
            <a:ext cx="10675776" cy="483022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RQ1 :    </a:t>
            </a:r>
            <a:r>
              <a:rPr lang="en-GB" sz="1800" dirty="0"/>
              <a:t>Can theoretically grounded synthetic data match or exceed real data in predicting student dropout?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RQ2 :   </a:t>
            </a:r>
            <a:r>
              <a:rPr lang="en-GB" sz="1800" dirty="0"/>
              <a:t>How do simulated psychological–behavioral constructs (like motivation, self-efficacy) influence model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800" dirty="0"/>
              <a:t>              performance and interpretability?</a:t>
            </a:r>
            <a:endParaRPr lang="en-GB" sz="1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RQ3:   </a:t>
            </a:r>
            <a:r>
              <a:rPr lang="en-GB" sz="1800" dirty="0"/>
              <a:t>Does the inclusion of synthetic data improve fairness and generalizability in machine learning models?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RQ4:  </a:t>
            </a:r>
            <a:r>
              <a:rPr lang="en-GB" sz="1800" dirty="0"/>
              <a:t>Can SHAP-based interpretability validate theory-driven feature engineering and ensure conceptual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800" dirty="0"/>
              <a:t>              alignment between simulated and observed data?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b="1" dirty="0"/>
              <a:t>        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b="1" dirty="0"/>
              <a:t>Each RQ connects a fundamental ethical AI concern ; accuracy, transparency, fairness, and theory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b="1" dirty="0"/>
              <a:t>alignment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US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1CB226-AE5F-67F2-691D-0A81D5BD5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1EF9A8-D8D4-2CD1-6DF9-B76F2A419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844" y="6123640"/>
            <a:ext cx="1074765" cy="734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9E2D2C-3C1E-7BFD-3330-15283B348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610" y="6123640"/>
            <a:ext cx="1828800" cy="734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7DBF5D-A3CE-FA22-EB8E-2AEE0855E5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66" y="6058063"/>
            <a:ext cx="1538344" cy="79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317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F7971-943F-9A88-FF16-17C4FFDCF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2488B-CD50-E278-90C2-7C528D35F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4180"/>
            <a:ext cx="10515600" cy="1110439"/>
          </a:xfrm>
        </p:spPr>
        <p:txBody>
          <a:bodyPr>
            <a:normAutofit/>
          </a:bodyPr>
          <a:lstStyle/>
          <a:p>
            <a:r>
              <a:rPr lang="en-GB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Theoretical Foundation</a:t>
            </a:r>
            <a:endParaRPr lang="en-US" sz="3100" dirty="0">
              <a:latin typeface="Poppins SemiBold" panose="00000700000000000000" pitchFamily="50" charset="0"/>
              <a:cs typeface="Poppins SemiBold" panose="00000700000000000000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48A61-F191-7ACF-7E4A-61B742115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1312"/>
            <a:ext cx="10675776" cy="503232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1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Theories Integrated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To design an ethical, theory-informed, and privacy-preserving AI framework for higher education dropout prediction using synthetic data enriched with psychological constructs.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1.Constructivist Learning Theory (Vygotsky, 1978)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Learners build knowledge through social and contextual interaction.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	Dropout = systemic misalignment between student and institution.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2.Self-Determination Theory (Deci &amp; Ryan, 1985):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Motivation arises from autonomy, competence, and relatedness.</a:t>
            </a:r>
            <a:b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	Operationalized as proxies in data (class timing, GPA, socioeconomic factors).</a:t>
            </a:r>
          </a:p>
          <a:p>
            <a:pPr algn="just">
              <a:lnSpc>
                <a:spcPct val="11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Innovation</a:t>
            </a: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800" dirty="0"/>
              <a:t>Embedding theory: data itself (not post hoc interpretation)</a:t>
            </a: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800" dirty="0"/>
              <a:t>Simulated constructs: motivation, self-efficacy, social support</a:t>
            </a:r>
            <a:endParaRPr lang="en-GB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CEDA turns abstract educational psychology into tangible machine learning features.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US" sz="1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744D3-3403-C7CB-3BC8-FE8223F7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18A4A6-FD94-3E6A-C4FD-930F6E5EC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844" y="6123640"/>
            <a:ext cx="1074765" cy="734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819AAA-7871-67FD-9C51-6745E35D3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610" y="6123640"/>
            <a:ext cx="1828800" cy="734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350B77-5BD4-31C9-1600-9D75759C01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66" y="6058063"/>
            <a:ext cx="1538344" cy="79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633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C7BF9-F721-01E5-5206-D86DB2EDB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E7A83-465C-BCE5-0894-9F47B0B73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35" y="62785"/>
            <a:ext cx="10515600" cy="1110439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Proposed Framework Overview</a:t>
            </a:r>
            <a:br>
              <a:rPr lang="en-GB" dirty="0">
                <a:latin typeface="Poppins SemiBold" panose="00000700000000000000" pitchFamily="50" charset="0"/>
                <a:cs typeface="Poppins SemiBold" panose="00000700000000000000" pitchFamily="50" charset="0"/>
              </a:rPr>
            </a:br>
            <a:r>
              <a:rPr lang="en-GB" sz="28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Constructivist–Ethical Data Augmentation (CEDA) Framework</a:t>
            </a:r>
            <a:endParaRPr lang="en-US" sz="2800" dirty="0">
              <a:latin typeface="Poppins SemiBold" panose="00000700000000000000" pitchFamily="50" charset="0"/>
              <a:cs typeface="Poppins SemiBold" panose="00000700000000000000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CB39D-97B0-DE75-DAC6-DA80D81A4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FE3F4E-70A8-EBAE-BE83-D136F8BC1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844" y="6123640"/>
            <a:ext cx="1074765" cy="734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B08696-0151-6D28-048D-BF7D405F3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610" y="6123640"/>
            <a:ext cx="1828800" cy="734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108FE6-5138-FE76-6269-2B2EAC1DCB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66" y="6058063"/>
            <a:ext cx="1538344" cy="7999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26563F-953A-FEBB-6FFE-7B7F474FD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244" y="1046868"/>
            <a:ext cx="4873392" cy="4886341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04D64ED-0486-2780-87A6-E4F5C1D4E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735" y="1262760"/>
            <a:ext cx="6684819" cy="4860880"/>
          </a:xfrm>
        </p:spPr>
        <p:txBody>
          <a:bodyPr>
            <a:normAutofit fontScale="92500" lnSpcReduction="10000"/>
          </a:bodyPr>
          <a:lstStyle/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Data Preprocessing (Cleaning, Encoding, Scaling)</a:t>
            </a: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Psychological: Behavioral Feature Simulation</a:t>
            </a: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Synthetic Data Generation (CTGAN, TVAE).</a:t>
            </a: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Model Training (</a:t>
            </a:r>
            <a:r>
              <a:rPr lang="en-GB" sz="1800" dirty="0" err="1">
                <a:latin typeface="Poppins" panose="00000500000000000000" pitchFamily="2" charset="0"/>
                <a:cs typeface="Poppins" panose="00000500000000000000" pitchFamily="2" charset="0"/>
              </a:rPr>
              <a:t>LightGBM</a:t>
            </a: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, RF, </a:t>
            </a:r>
            <a:r>
              <a:rPr lang="en-GB" sz="1800" dirty="0" err="1">
                <a:latin typeface="Poppins" panose="00000500000000000000" pitchFamily="2" charset="0"/>
                <a:cs typeface="Poppins" panose="00000500000000000000" pitchFamily="2" charset="0"/>
              </a:rPr>
              <a:t>XGBoost</a:t>
            </a: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Fairness &amp; Ethical Validation (DPD, SHAP)</a:t>
            </a:r>
          </a:p>
          <a:p>
            <a:pPr algn="just">
              <a:lnSpc>
                <a:spcPct val="15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Core Principals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Ethical Integrity: privacy, fairness, interpretability.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Pedagogical Validity: motivation &amp; engagement simulated.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Scalability :To be tested across diverse datasets, disciplines, and the University of </a:t>
            </a:r>
            <a:r>
              <a:rPr lang="en-GB" sz="1800" dirty="0" err="1">
                <a:latin typeface="Poppins" panose="00000500000000000000" pitchFamily="2" charset="0"/>
                <a:cs typeface="Poppins" panose="00000500000000000000" pitchFamily="2" charset="0"/>
              </a:rPr>
              <a:t>Telepgaso</a:t>
            </a: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 data.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Overall CEDA operationalizes ethics, theory, and AI  within one integrated pipeline.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US" sz="1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EB3DC5-7E5C-95B2-F787-6BE58943CADA}"/>
              </a:ext>
            </a:extLst>
          </p:cNvPr>
          <p:cNvSpPr txBox="1"/>
          <p:nvPr/>
        </p:nvSpPr>
        <p:spPr>
          <a:xfrm>
            <a:off x="346364" y="5850493"/>
            <a:ext cx="9822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/>
              <a:t>*</a:t>
            </a:r>
            <a:r>
              <a:rPr lang="en-US" b="1" dirty="0"/>
              <a:t> </a:t>
            </a:r>
            <a:r>
              <a:rPr lang="en-US" sz="900" dirty="0"/>
              <a:t>Demographic Parity Difference </a:t>
            </a:r>
            <a:r>
              <a:rPr lang="en-GB" sz="900" dirty="0"/>
              <a:t>(DPD)     *Conditional Tabular </a:t>
            </a:r>
            <a:r>
              <a:rPr lang="en-US" sz="900" dirty="0"/>
              <a:t>Generative Adversarial Networks (GANs) </a:t>
            </a:r>
            <a:r>
              <a:rPr lang="en-GB" sz="900" dirty="0"/>
              <a:t>(CTGAN)     *</a:t>
            </a:r>
            <a:r>
              <a:rPr lang="en-US" sz="900" dirty="0"/>
              <a:t>Tabular Variational Autoencoders (TVAE)</a:t>
            </a:r>
            <a:r>
              <a:rPr lang="en-GB" sz="9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7243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74505-4BA1-D640-2E80-87548BAD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04598-DE2C-F739-10A6-9997A5EAF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48" y="164963"/>
            <a:ext cx="10974734" cy="907111"/>
          </a:xfrm>
        </p:spPr>
        <p:txBody>
          <a:bodyPr>
            <a:noAutofit/>
          </a:bodyPr>
          <a:lstStyle/>
          <a:p>
            <a:r>
              <a:rPr lang="en-GB" sz="34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Ethical Synthetic Data Creation (CTGAN &amp; TVAE)</a:t>
            </a:r>
            <a:endParaRPr lang="en-US" sz="3400" dirty="0">
              <a:latin typeface="Poppins SemiBold" panose="00000700000000000000" pitchFamily="50" charset="0"/>
              <a:cs typeface="Poppins SemiBold" panose="00000700000000000000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A205A-DCE2-3E14-7366-5067A7810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950A23-54EF-EBCC-586F-32F811802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844" y="6123640"/>
            <a:ext cx="1074765" cy="734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1F78DD-E098-30D8-896C-6ABEDA769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610" y="6123640"/>
            <a:ext cx="1828800" cy="734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DF47EF-264A-06E1-2509-B931F72E38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66" y="6058063"/>
            <a:ext cx="1538344" cy="799937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FA89A1B-475F-3D0A-90DF-5A0BC0AA1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62" y="998560"/>
            <a:ext cx="7017329" cy="452940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Approach</a:t>
            </a: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CTGAN:</a:t>
            </a: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 Conditional sampling for categorical–numerical balance.</a:t>
            </a: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TVAE:</a:t>
            </a: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 Latent variable diversity for realistic synthetic distributions.</a:t>
            </a: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Validation: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	KS tests for statistical fidelity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	Correlation preservation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 	Privacy tests (real–synthetic distinguishability)</a:t>
            </a:r>
          </a:p>
          <a:p>
            <a:pPr algn="just">
              <a:lnSpc>
                <a:spcPct val="15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Outcome</a:t>
            </a: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Generated data preserves original feature dependencies.</a:t>
            </a: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Achieves privacy compliance with GDPR &amp; FERPA.</a:t>
            </a: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Selected academic, demographic, financial, and behavioral features.</a:t>
            </a:r>
          </a:p>
          <a:p>
            <a:pPr marL="342900" indent="-342900" algn="just">
              <a:lnSpc>
                <a:spcPct val="100000"/>
              </a:lnSpc>
              <a:buAutoNum type="arabicPeriod"/>
            </a:pPr>
            <a:endParaRPr lang="en-GB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C4E41-E878-17CD-3C65-4079BB147468}"/>
              </a:ext>
            </a:extLst>
          </p:cNvPr>
          <p:cNvSpPr txBox="1"/>
          <p:nvPr/>
        </p:nvSpPr>
        <p:spPr>
          <a:xfrm>
            <a:off x="1337286" y="5495558"/>
            <a:ext cx="9852516" cy="363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GB" sz="1700" b="1" dirty="0">
                <a:solidFill>
                  <a:srgbClr val="148A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Synthetic data becomes not artificial but ethically amplified.</a:t>
            </a:r>
            <a:endParaRPr lang="en-US" sz="1700" b="1" dirty="0">
              <a:solidFill>
                <a:srgbClr val="148A4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38C021-B25D-090A-D411-B8AC0810E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891" y="1475651"/>
            <a:ext cx="4158998" cy="29612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4008578-05FF-E02F-9E32-87B6F9E9F5A0}"/>
              </a:ext>
            </a:extLst>
          </p:cNvPr>
          <p:cNvSpPr txBox="1"/>
          <p:nvPr/>
        </p:nvSpPr>
        <p:spPr>
          <a:xfrm>
            <a:off x="476048" y="5897955"/>
            <a:ext cx="982287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/>
              <a:t>*Conditional Tabular </a:t>
            </a:r>
            <a:r>
              <a:rPr lang="en-US" sz="900" dirty="0"/>
              <a:t>Generative Adversarial Networks (GANs) </a:t>
            </a:r>
            <a:r>
              <a:rPr lang="en-GB" sz="900" dirty="0"/>
              <a:t>(CTGAN)     *</a:t>
            </a:r>
            <a:r>
              <a:rPr lang="en-US" sz="900" dirty="0"/>
              <a:t>Tabular Variational Autoencoders (TVAE) 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3450840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F2901-E76C-5B9F-DF71-6FE46BD89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BCDE0-1B7D-AF9C-EEB6-2BABF0F2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48" y="164963"/>
            <a:ext cx="10515600" cy="907111"/>
          </a:xfrm>
        </p:spPr>
        <p:txBody>
          <a:bodyPr>
            <a:normAutofit/>
          </a:bodyPr>
          <a:lstStyle/>
          <a:p>
            <a:r>
              <a:rPr lang="en-GB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Methodological Design</a:t>
            </a:r>
            <a:endParaRPr lang="en-US" sz="3100" dirty="0">
              <a:latin typeface="Poppins SemiBold" panose="00000700000000000000" pitchFamily="50" charset="0"/>
              <a:cs typeface="Poppins SemiBold" panose="00000700000000000000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C019FE-4B62-4100-744F-2B6A731A1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9936C3-7934-D45C-A914-F59B730B2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844" y="6123640"/>
            <a:ext cx="1074765" cy="734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B8043D-05FA-6522-98AD-D559BBC73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610" y="6123640"/>
            <a:ext cx="1828800" cy="734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EAD8B4-E7EC-B642-04C4-F264DE6BEE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66" y="6058063"/>
            <a:ext cx="1538344" cy="799937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34C6C4A-6580-3675-0CAB-D50EAA580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62" y="998560"/>
            <a:ext cx="7017329" cy="452940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Dataset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Predict Students’ Dropout and Academic Success (UCI Repository).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4,424 students, 32 variables → dropout/graduation/enrolled.</a:t>
            </a:r>
          </a:p>
          <a:p>
            <a:pPr algn="just">
              <a:lnSpc>
                <a:spcPct val="15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Preprocessing</a:t>
            </a: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Label encoding, imputation, correlation checks.</a:t>
            </a: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Selected academic, demographic, financial, and behavioral features.</a:t>
            </a: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80:20 stratified split for generalizability.</a:t>
            </a:r>
          </a:p>
          <a:p>
            <a:pPr algn="just">
              <a:lnSpc>
                <a:spcPct val="15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Proxy Simulation (SDT Constructs):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Self-efficacy → GPA consistency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Motivation → scholarship status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Engagement → attendance &amp; grades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402A3D-7221-4E7D-1D0B-C468DAC20882}"/>
              </a:ext>
            </a:extLst>
          </p:cNvPr>
          <p:cNvSpPr txBox="1"/>
          <p:nvPr/>
        </p:nvSpPr>
        <p:spPr>
          <a:xfrm>
            <a:off x="476048" y="5527964"/>
            <a:ext cx="9852516" cy="656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GB" sz="1700" b="1" dirty="0">
                <a:solidFill>
                  <a:srgbClr val="148A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Overall, </a:t>
            </a:r>
            <a:r>
              <a:rPr lang="en-GB" sz="1700" dirty="0">
                <a:solidFill>
                  <a:srgbClr val="148A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this ensures that the augmented dataset is diverse, realistic, and suitable for robust model training, while still preserving the key characteristics of the original data.</a:t>
            </a:r>
            <a:endParaRPr lang="en-US" sz="1700" dirty="0">
              <a:solidFill>
                <a:srgbClr val="148A4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6337B0-A853-3068-0AE0-89D89D8B21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164" y="1505902"/>
            <a:ext cx="4458086" cy="269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49D21-E203-E290-B060-02DC8210C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43948-E7E3-8601-A21A-B7E730D2C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2424"/>
            <a:ext cx="10515600" cy="881026"/>
          </a:xfrm>
        </p:spPr>
        <p:txBody>
          <a:bodyPr>
            <a:normAutofit/>
          </a:bodyPr>
          <a:lstStyle/>
          <a:p>
            <a:r>
              <a:rPr lang="en-GB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Model Training &amp; Observations</a:t>
            </a:r>
            <a:endParaRPr lang="en-US" dirty="0">
              <a:latin typeface="Poppins SemiBold" panose="00000700000000000000" pitchFamily="50" charset="0"/>
              <a:cs typeface="Poppins SemiBold" panose="00000700000000000000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F33E0-852C-7BA8-C031-1E7199CC3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44701"/>
            <a:ext cx="10675776" cy="5032328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Model Used</a:t>
            </a: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Random Forest</a:t>
            </a: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800" dirty="0" err="1">
                <a:latin typeface="Poppins" panose="00000500000000000000" pitchFamily="2" charset="0"/>
                <a:cs typeface="Poppins" panose="00000500000000000000" pitchFamily="2" charset="0"/>
              </a:rPr>
              <a:t>XGBoost</a:t>
            </a:r>
            <a:endParaRPr lang="en-GB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800" dirty="0" err="1">
                <a:latin typeface="Poppins" panose="00000500000000000000" pitchFamily="2" charset="0"/>
                <a:cs typeface="Poppins" panose="00000500000000000000" pitchFamily="2" charset="0"/>
              </a:rPr>
              <a:t>LightGBM</a:t>
            </a:r>
            <a:endParaRPr lang="en-GB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>
              <a:lnSpc>
                <a:spcPct val="11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Evaluation Metrics:</a:t>
            </a: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800" dirty="0"/>
              <a:t>Accuracy, F1, ROC-AUC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GB" sz="1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endParaRPr lang="en-GB" sz="1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b="1" dirty="0" err="1">
                <a:latin typeface="Poppins" panose="00000500000000000000" pitchFamily="2" charset="0"/>
                <a:cs typeface="Poppins" panose="00000500000000000000" pitchFamily="2" charset="0"/>
              </a:rPr>
              <a:t>LightGBM</a:t>
            </a: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 achieved balance between accuracy,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fairness, and interpretability.</a:t>
            </a:r>
            <a:endParaRPr lang="en-US" sz="1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22F11E-5316-38D1-2DAE-901AD6C12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707C0C-FBA3-2AE0-B916-DB7D2CE6B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844" y="6123640"/>
            <a:ext cx="1074765" cy="734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185F23-27B1-2E78-84C0-F3594F608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610" y="6123640"/>
            <a:ext cx="1828800" cy="734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1AC8A8-B3A8-0C95-78B4-C3ACB08D1D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66" y="6058063"/>
            <a:ext cx="1538344" cy="79993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4E223A6-AEF8-4D58-5299-870C6D68D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019126"/>
              </p:ext>
            </p:extLst>
          </p:nvPr>
        </p:nvGraphicFramePr>
        <p:xfrm>
          <a:off x="3512127" y="799937"/>
          <a:ext cx="8250382" cy="29756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9898">
                  <a:extLst>
                    <a:ext uri="{9D8B030D-6E8A-4147-A177-3AD203B41FA5}">
                      <a16:colId xmlns:a16="http://schemas.microsoft.com/office/drawing/2014/main" val="733543899"/>
                    </a:ext>
                  </a:extLst>
                </a:gridCol>
                <a:gridCol w="2417467">
                  <a:extLst>
                    <a:ext uri="{9D8B030D-6E8A-4147-A177-3AD203B41FA5}">
                      <a16:colId xmlns:a16="http://schemas.microsoft.com/office/drawing/2014/main" val="3392900442"/>
                    </a:ext>
                  </a:extLst>
                </a:gridCol>
                <a:gridCol w="1338905">
                  <a:extLst>
                    <a:ext uri="{9D8B030D-6E8A-4147-A177-3AD203B41FA5}">
                      <a16:colId xmlns:a16="http://schemas.microsoft.com/office/drawing/2014/main" val="962892828"/>
                    </a:ext>
                  </a:extLst>
                </a:gridCol>
                <a:gridCol w="1338905">
                  <a:extLst>
                    <a:ext uri="{9D8B030D-6E8A-4147-A177-3AD203B41FA5}">
                      <a16:colId xmlns:a16="http://schemas.microsoft.com/office/drawing/2014/main" val="2277318848"/>
                    </a:ext>
                  </a:extLst>
                </a:gridCol>
                <a:gridCol w="1785207">
                  <a:extLst>
                    <a:ext uri="{9D8B030D-6E8A-4147-A177-3AD203B41FA5}">
                      <a16:colId xmlns:a16="http://schemas.microsoft.com/office/drawing/2014/main" val="4090827431"/>
                    </a:ext>
                  </a:extLst>
                </a:gridCol>
              </a:tblGrid>
              <a:tr h="21880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500">
                          <a:effectLst/>
                        </a:rPr>
                        <a:t>Model</a:t>
                      </a:r>
                      <a:endParaRPr lang="en-GB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500">
                          <a:effectLst/>
                        </a:rPr>
                        <a:t>Observations</a:t>
                      </a:r>
                      <a:endParaRPr lang="en-GB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500" dirty="0">
                          <a:effectLst/>
                        </a:rPr>
                        <a:t>Accuracy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500">
                          <a:effectLst/>
                        </a:rPr>
                        <a:t>F1 Score</a:t>
                      </a:r>
                      <a:endParaRPr lang="en-GB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500" dirty="0">
                          <a:effectLst/>
                        </a:rPr>
                        <a:t>ROC-AUC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9607403"/>
                  </a:ext>
                </a:extLst>
              </a:tr>
              <a:tr h="65641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500">
                          <a:effectLst/>
                        </a:rPr>
                        <a:t>Light GBM</a:t>
                      </a:r>
                      <a:endParaRPr lang="en-GB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500" dirty="0">
                          <a:effectLst/>
                        </a:rPr>
                        <a:t>Best synthetic model; maintains robustness and interpretability.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GB" sz="1500" dirty="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1500" dirty="0">
                          <a:effectLst/>
                        </a:rPr>
                        <a:t>0.8237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GB" sz="1500" dirty="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1500" dirty="0">
                          <a:effectLst/>
                        </a:rPr>
                        <a:t>0.7593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GB" sz="15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1500">
                          <a:effectLst/>
                        </a:rPr>
                        <a:t>0.9027</a:t>
                      </a:r>
                      <a:endParaRPr lang="en-GB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0171880"/>
                  </a:ext>
                </a:extLst>
              </a:tr>
              <a:tr h="65641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500">
                          <a:effectLst/>
                        </a:rPr>
                        <a:t>XGBoost</a:t>
                      </a:r>
                      <a:endParaRPr lang="en-GB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500">
                          <a:effectLst/>
                        </a:rPr>
                        <a:t>Slightly underperforms vs. LightGBM; sensitive to synthetic variance.</a:t>
                      </a:r>
                      <a:endParaRPr lang="en-GB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GB" sz="15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1500">
                          <a:effectLst/>
                        </a:rPr>
                        <a:t>0.8158</a:t>
                      </a:r>
                      <a:endParaRPr lang="en-GB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GB" sz="1500" dirty="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1500" dirty="0">
                          <a:effectLst/>
                        </a:rPr>
                        <a:t>0.7481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GB" sz="15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1500">
                          <a:effectLst/>
                        </a:rPr>
                        <a:t>0.8988</a:t>
                      </a:r>
                      <a:endParaRPr lang="en-GB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6723469"/>
                  </a:ext>
                </a:extLst>
              </a:tr>
              <a:tr h="68969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500">
                          <a:effectLst/>
                        </a:rPr>
                        <a:t>Random Forest</a:t>
                      </a:r>
                      <a:endParaRPr lang="en-GB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500">
                          <a:effectLst/>
                        </a:rPr>
                        <a:t>Stable ensemble; handles synthetic feature distributions well.</a:t>
                      </a:r>
                      <a:endParaRPr lang="en-GB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GB" sz="15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1500">
                          <a:effectLst/>
                        </a:rPr>
                        <a:t>0.8237</a:t>
                      </a:r>
                      <a:endParaRPr lang="en-GB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GB" sz="1500" dirty="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1500" dirty="0">
                          <a:effectLst/>
                        </a:rPr>
                        <a:t>0.7578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GB" sz="1500" dirty="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1500" dirty="0">
                          <a:effectLst/>
                        </a:rPr>
                        <a:t>0.8994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3164363"/>
                  </a:ext>
                </a:extLst>
              </a:tr>
              <a:tr h="65641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500" dirty="0">
                          <a:effectLst/>
                        </a:rPr>
                        <a:t>Logistic Regression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500">
                          <a:effectLst/>
                        </a:rPr>
                        <a:t>Strong baseline; slight drop due to lack of real noise patterns.</a:t>
                      </a:r>
                      <a:endParaRPr lang="en-GB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GB" sz="1500" dirty="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1500" dirty="0">
                          <a:effectLst/>
                        </a:rPr>
                        <a:t>0.8169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GB" sz="15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1500">
                          <a:effectLst/>
                        </a:rPr>
                        <a:t>0.7545</a:t>
                      </a:r>
                      <a:endParaRPr lang="en-GB" sz="15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GB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GB" sz="1500" dirty="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1500" dirty="0">
                          <a:effectLst/>
                        </a:rPr>
                        <a:t>0.9026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5917854"/>
                  </a:ext>
                </a:extLst>
              </a:tr>
            </a:tbl>
          </a:graphicData>
        </a:graphic>
      </p:graphicFrame>
      <p:pic>
        <p:nvPicPr>
          <p:cNvPr id="9" name="Picture 8" descr="A graph of performance comparison&#10;&#10;AI-generated content may be incorrect.">
            <a:extLst>
              <a:ext uri="{FF2B5EF4-FFF2-40B4-BE49-F238E27FC236}">
                <a16:creationId xmlns:a16="http://schemas.microsoft.com/office/drawing/2014/main" id="{780FE23B-D1DB-F1FD-09D0-06580F14B3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0831" y="3714813"/>
            <a:ext cx="5267542" cy="220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Box 2">
            <a:extLst>
              <a:ext uri="{FF2B5EF4-FFF2-40B4-BE49-F238E27FC236}">
                <a16:creationId xmlns:a16="http://schemas.microsoft.com/office/drawing/2014/main" id="{373002C0-C84C-B01F-A742-96776189E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479" y="5877029"/>
            <a:ext cx="4465320" cy="2317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algn="ctr">
              <a:buNone/>
            </a:pPr>
            <a:r>
              <a:rPr lang="en-US" sz="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Fig.</a:t>
            </a:r>
            <a:r>
              <a:rPr lang="en-US" sz="900" b="1" spc="1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9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sz="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 Performance Comparison</a:t>
            </a:r>
            <a:endParaRPr lang="en-GB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252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7CAEB-AB5B-CE02-6F8E-C24FE219E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5FF78-2B30-9FB2-FFED-BDAECEDA2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4180"/>
            <a:ext cx="10515600" cy="1110439"/>
          </a:xfrm>
        </p:spPr>
        <p:txBody>
          <a:bodyPr>
            <a:normAutofit/>
          </a:bodyPr>
          <a:lstStyle/>
          <a:p>
            <a:r>
              <a:rPr lang="en-GB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Ethical Validation of Predictions</a:t>
            </a:r>
            <a:endParaRPr lang="en-US" dirty="0">
              <a:latin typeface="Poppins SemiBold" panose="00000700000000000000" pitchFamily="50" charset="0"/>
              <a:cs typeface="Poppins SemiBold" panose="00000700000000000000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F5574-8426-F727-C108-FFA5DB4E3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1312"/>
            <a:ext cx="10675776" cy="5032328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Theories Integrated</a:t>
            </a:r>
          </a:p>
          <a:p>
            <a:pPr marL="342900" indent="-342900" algn="just">
              <a:lnSpc>
                <a:spcPct val="110000"/>
              </a:lnSpc>
              <a:buFont typeface="+mj-lt"/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Group fairness: DPD ≈ 0.32–0.33 (acceptable parity). </a:t>
            </a:r>
          </a:p>
          <a:p>
            <a:pPr marL="342900" indent="-342900" algn="just">
              <a:lnSpc>
                <a:spcPct val="110000"/>
              </a:lnSpc>
              <a:buFont typeface="+mj-lt"/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Bias mitigation: reweighing and threshold calibration.</a:t>
            </a:r>
          </a:p>
          <a:p>
            <a:pPr algn="just">
              <a:lnSpc>
                <a:spcPct val="11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SHAP Explainability</a:t>
            </a:r>
          </a:p>
          <a:p>
            <a:pPr marL="0" indent="0"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Top contributing features (</a:t>
            </a:r>
            <a:r>
              <a:rPr lang="en-GB" sz="1800" dirty="0" err="1">
                <a:latin typeface="Poppins" panose="00000500000000000000" pitchFamily="2" charset="0"/>
                <a:cs typeface="Poppins" panose="00000500000000000000" pitchFamily="2" charset="0"/>
              </a:rPr>
              <a:t>LightGBM</a:t>
            </a: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 model):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Curricular Units (2nd sem. approved): persistence/</a:t>
            </a:r>
          </a:p>
          <a:p>
            <a:pPr marL="0" indent="0"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      self-regulation.</a:t>
            </a:r>
          </a:p>
          <a:p>
            <a:pPr marL="0" indent="0"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2.   Curricular Units (1st sem. approved): early adaptation.</a:t>
            </a:r>
          </a:p>
          <a:p>
            <a:pPr marL="0" indent="0"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3.   Curricular Units (2nd sem. grades):self-efficacy.</a:t>
            </a:r>
          </a:p>
          <a:p>
            <a:pPr marL="342900" indent="-342900">
              <a:buFont typeface="+mj-lt"/>
              <a:buAutoNum type="arabicPeriod"/>
            </a:pPr>
            <a:endParaRPr lang="en-GB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600" b="1" dirty="0">
                <a:latin typeface="Poppins" panose="00000500000000000000" pitchFamily="2" charset="0"/>
                <a:cs typeface="Poppins" panose="00000500000000000000" pitchFamily="2" charset="0"/>
              </a:rPr>
              <a:t>The same features driving predictions mirror those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600" b="1" dirty="0">
                <a:latin typeface="Poppins" panose="00000500000000000000" pitchFamily="2" charset="0"/>
                <a:cs typeface="Poppins" panose="00000500000000000000" pitchFamily="2" charset="0"/>
              </a:rPr>
              <a:t>in educational psychology  validating construct authenticity.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US" sz="1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9CAB9-DE5F-94CB-49C5-F5DDC0EFD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42B7F0-C4E4-5900-FED2-7E0F9369F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844" y="6123640"/>
            <a:ext cx="1074765" cy="734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279FBB-6A35-5BFF-E274-E11995F79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610" y="6123640"/>
            <a:ext cx="1828800" cy="734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AA858A-5E67-5536-895A-3C98F23B95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66" y="6058063"/>
            <a:ext cx="1538344" cy="7999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3D06E6-4F81-3249-A9EE-32D4A3C8B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7155" y="1184619"/>
            <a:ext cx="4571999" cy="47693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ED4698-93F5-1705-0B71-7EC875DD1F7F}"/>
              </a:ext>
            </a:extLst>
          </p:cNvPr>
          <p:cNvSpPr txBox="1"/>
          <p:nvPr/>
        </p:nvSpPr>
        <p:spPr>
          <a:xfrm>
            <a:off x="838199" y="5771394"/>
            <a:ext cx="2155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/>
              <a:t>*</a:t>
            </a:r>
            <a:r>
              <a:rPr lang="en-US" b="1" dirty="0"/>
              <a:t> </a:t>
            </a:r>
            <a:r>
              <a:rPr lang="en-US" sz="900" dirty="0"/>
              <a:t>Demographic Parity Difference </a:t>
            </a:r>
            <a:r>
              <a:rPr lang="en-GB" sz="900" dirty="0"/>
              <a:t>(DPD</a:t>
            </a:r>
          </a:p>
        </p:txBody>
      </p:sp>
    </p:spTree>
    <p:extLst>
      <p:ext uri="{BB962C8B-B14F-4D97-AF65-F5344CB8AC3E}">
        <p14:creationId xmlns:p14="http://schemas.microsoft.com/office/powerpoint/2010/main" val="3012234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7DF03-7C00-6ACA-B703-196E29315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D25C-5BA5-3703-80CE-5690382FE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111" y="76469"/>
            <a:ext cx="10515600" cy="841719"/>
          </a:xfrm>
        </p:spPr>
        <p:txBody>
          <a:bodyPr>
            <a:noAutofit/>
          </a:bodyPr>
          <a:lstStyle/>
          <a:p>
            <a:r>
              <a:rPr lang="en-GB" sz="37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Major Findings and Research Contributions</a:t>
            </a:r>
            <a:endParaRPr lang="en-US" sz="3700" dirty="0">
              <a:latin typeface="Poppins SemiBold" panose="00000700000000000000" pitchFamily="50" charset="0"/>
              <a:cs typeface="Poppins SemiBold" panose="00000700000000000000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4B11B-E7C6-EB37-E1DC-6F8741B88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111" y="918189"/>
            <a:ext cx="10675776" cy="5205451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1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Empirical Findings (Machine Learning Models Level &amp; Synthetic Dataset)</a:t>
            </a:r>
          </a:p>
          <a:p>
            <a:pPr marL="342900" indent="-342900" algn="just">
              <a:lnSpc>
                <a:spcPct val="170000"/>
              </a:lnSpc>
              <a:buAutoNum type="arabicPeriod"/>
            </a:pPr>
            <a:r>
              <a:rPr lang="en-US" sz="1900" dirty="0">
                <a:latin typeface="Poppins" panose="00000500000000000000" pitchFamily="2" charset="0"/>
                <a:cs typeface="Poppins" panose="00000500000000000000" pitchFamily="2" charset="0"/>
              </a:rPr>
              <a:t>The </a:t>
            </a:r>
            <a:r>
              <a:rPr lang="en-US" sz="1900" dirty="0" err="1">
                <a:latin typeface="Poppins" panose="00000500000000000000" pitchFamily="2" charset="0"/>
                <a:cs typeface="Poppins" panose="00000500000000000000" pitchFamily="2" charset="0"/>
              </a:rPr>
              <a:t>LightGBM</a:t>
            </a:r>
            <a:r>
              <a:rPr lang="en-US" sz="1900" dirty="0">
                <a:latin typeface="Poppins" panose="00000500000000000000" pitchFamily="2" charset="0"/>
                <a:cs typeface="Poppins" panose="00000500000000000000" pitchFamily="2" charset="0"/>
              </a:rPr>
              <a:t> classifier provided the most consistent performance (Accuracy = 0.8237, F1 = 0.7593, ROC– AUC = 0.9027), achieving only a marginal decline (ΔAUC ≈ 0.025) compared to real-data performance, thus preserving high fidelity between real and synthetic domains.</a:t>
            </a: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900" dirty="0">
                <a:latin typeface="Poppins" panose="00000500000000000000" pitchFamily="2" charset="0"/>
                <a:cs typeface="Poppins" panose="00000500000000000000" pitchFamily="2" charset="0"/>
              </a:rPr>
              <a:t>Improved fairness, transparency, and minority class recall.</a:t>
            </a: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900" dirty="0">
                <a:latin typeface="Poppins" panose="00000500000000000000" pitchFamily="2" charset="0"/>
                <a:cs typeface="Poppins" panose="00000500000000000000" pitchFamily="2" charset="0"/>
              </a:rPr>
              <a:t>Psychological feature simulation increased model interpretability.</a:t>
            </a: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900" dirty="0">
                <a:latin typeface="Poppins" panose="00000500000000000000" pitchFamily="2" charset="0"/>
                <a:cs typeface="Poppins" panose="00000500000000000000" pitchFamily="2" charset="0"/>
              </a:rPr>
              <a:t>SHAP validation confirmed theory-aligned reasoning.</a:t>
            </a:r>
          </a:p>
          <a:p>
            <a:pPr marL="0" indent="0" algn="just">
              <a:lnSpc>
                <a:spcPct val="170000"/>
              </a:lnSpc>
              <a:buNone/>
            </a:pPr>
            <a:endParaRPr lang="en-GB" sz="1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900" dirty="0">
                <a:latin typeface="Poppins" panose="00000500000000000000" pitchFamily="2" charset="0"/>
                <a:cs typeface="Poppins" panose="00000500000000000000" pitchFamily="2" charset="0"/>
              </a:rPr>
              <a:t>Mean KS Statistic (CTGAN) shown that &lt;0.1 means most real–synthetic feature distributions overlap well.</a:t>
            </a: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900" dirty="0">
                <a:latin typeface="Poppins" panose="00000500000000000000" pitchFamily="2" charset="0"/>
                <a:cs typeface="Poppins" panose="00000500000000000000" pitchFamily="2" charset="0"/>
              </a:rPr>
              <a:t>Mean KS Statistic (TVAE) found within fidelity threshold (&lt;0.15) during synthetic data creation.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en-GB" sz="1900" dirty="0">
                <a:latin typeface="Poppins" panose="00000500000000000000" pitchFamily="2" charset="0"/>
                <a:cs typeface="Poppins" panose="00000500000000000000" pitchFamily="2" charset="0"/>
              </a:rPr>
              <a:t>Correlation matrices of synthetic and real data are &gt;94% similar.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en-GB" sz="1900" dirty="0">
                <a:latin typeface="Poppins" panose="00000500000000000000" pitchFamily="2" charset="0"/>
                <a:cs typeface="Poppins" panose="00000500000000000000" pitchFamily="2" charset="0"/>
              </a:rPr>
              <a:t>Privacy Protection of synthetic data : Near 0.5  indistinguishable; indicates strong privacy and minimal re-identification risk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en-GB" sz="1900" dirty="0">
                <a:latin typeface="Poppins" panose="00000500000000000000" pitchFamily="2" charset="0"/>
                <a:cs typeface="Poppins" panose="00000500000000000000" pitchFamily="2" charset="0"/>
              </a:rPr>
              <a:t>Nearest </a:t>
            </a:r>
            <a:r>
              <a:rPr lang="en-GB" sz="1900" dirty="0" err="1">
                <a:latin typeface="Poppins" panose="00000500000000000000" pitchFamily="2" charset="0"/>
                <a:cs typeface="Poppins" panose="00000500000000000000" pitchFamily="2" charset="0"/>
              </a:rPr>
              <a:t>Neighbor</a:t>
            </a:r>
            <a:r>
              <a:rPr lang="en-GB" sz="1900" dirty="0">
                <a:latin typeface="Poppins" panose="00000500000000000000" pitchFamily="2" charset="0"/>
                <a:cs typeface="Poppins" panose="00000500000000000000" pitchFamily="2" charset="0"/>
              </a:rPr>
              <a:t> Distance Ratio (NNDR): 0.021 Synthetic samples sufficiently distinct; no data leakage from original records.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GB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 algn="just">
              <a:lnSpc>
                <a:spcPct val="110000"/>
              </a:lnSpc>
              <a:buAutoNum type="arabicPeriod"/>
            </a:pPr>
            <a:endParaRPr lang="en-GB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endParaRPr lang="en-US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0E413-7019-92DD-65AC-9A1E6622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99DE52-08A0-3078-35A1-3B3482677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844" y="6123640"/>
            <a:ext cx="1074765" cy="734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7B23EF-258F-A095-F5E6-2F2660E13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610" y="6123640"/>
            <a:ext cx="1828800" cy="734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FEA600-EC3D-4542-F7FA-9CBCAEFBA6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66" y="6058063"/>
            <a:ext cx="1538344" cy="7999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13B9F6-957C-3DEC-6E10-1D22CD78DBA9}"/>
              </a:ext>
            </a:extLst>
          </p:cNvPr>
          <p:cNvSpPr txBox="1"/>
          <p:nvPr/>
        </p:nvSpPr>
        <p:spPr>
          <a:xfrm>
            <a:off x="838199" y="5942647"/>
            <a:ext cx="982287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/>
              <a:t>*Area Under Curve</a:t>
            </a:r>
            <a:r>
              <a:rPr lang="en-US" sz="900" dirty="0"/>
              <a:t> (AUC)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65894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A05D2-4791-FDB3-B92A-6F9B87035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3DFF9-F611-9DFB-EAA4-DE1E2F71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4180"/>
            <a:ext cx="10515600" cy="1110439"/>
          </a:xfrm>
        </p:spPr>
        <p:txBody>
          <a:bodyPr>
            <a:noAutofit/>
          </a:bodyPr>
          <a:lstStyle/>
          <a:p>
            <a:r>
              <a:rPr lang="en-GB" sz="37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Educational and Ethical Implications</a:t>
            </a:r>
            <a:endParaRPr lang="en-US" sz="3700" dirty="0">
              <a:latin typeface="Poppins SemiBold" panose="00000700000000000000" pitchFamily="50" charset="0"/>
              <a:cs typeface="Poppins SemiBold" panose="00000700000000000000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C9036-1B38-BE9C-76D6-A64C57D82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1312"/>
            <a:ext cx="10675776" cy="4830225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Conceptual Impacts</a:t>
            </a: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Reframes dropout prediction from technical → human-</a:t>
            </a:r>
            <a:r>
              <a:rPr lang="en-GB" sz="1800" dirty="0" err="1">
                <a:latin typeface="Poppins" panose="00000500000000000000" pitchFamily="2" charset="0"/>
                <a:cs typeface="Poppins" panose="00000500000000000000" pitchFamily="2" charset="0"/>
              </a:rPr>
              <a:t>centered</a:t>
            </a: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 problem.</a:t>
            </a: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Fuses AI ethics with learning theory. </a:t>
            </a: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Demonstrates privacy-preserving analytics can still be interpretable.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GB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>
              <a:lnSpc>
                <a:spcPct val="11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Institutional Impact</a:t>
            </a: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Enables compliant, reproducible AI without sensitive data. </a:t>
            </a: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Promotes responsible innovation in education. </a:t>
            </a: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Provides blueprint for ethical deployment of predictive models. 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GB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b="1" dirty="0"/>
              <a:t>CEDA Framework offers an ethically grounded, pedagogically coherent roadmap for educational AI.</a:t>
            </a:r>
            <a:endParaRPr lang="en-GB" sz="1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endParaRPr lang="en-US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496253-357D-AD0A-B85B-C43A02A75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A5F8D2-114D-2191-4AEA-CAE03F87B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844" y="6123640"/>
            <a:ext cx="1074765" cy="734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BCCD75-CBFF-74DB-F426-C1F547E8E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610" y="6123640"/>
            <a:ext cx="1828800" cy="734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285304-3783-7195-97EE-8720D68BBC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66" y="6058063"/>
            <a:ext cx="1538344" cy="79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215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B7BBE-A57F-F848-27EA-F87BB4F8F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A3A6-D1B1-373C-3007-94131B179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4180"/>
            <a:ext cx="10515600" cy="1110439"/>
          </a:xfrm>
        </p:spPr>
        <p:txBody>
          <a:bodyPr>
            <a:noAutofit/>
          </a:bodyPr>
          <a:lstStyle/>
          <a:p>
            <a:r>
              <a:rPr lang="en-GB" sz="37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Limitations &amp; Path Forward</a:t>
            </a:r>
            <a:endParaRPr lang="en-US" sz="3700" dirty="0">
              <a:latin typeface="Poppins SemiBold" panose="00000700000000000000" pitchFamily="50" charset="0"/>
              <a:cs typeface="Poppins SemiBold" panose="00000700000000000000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6013E-A989-9CCA-7873-F4E51ABD5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1312"/>
            <a:ext cx="10675776" cy="4830225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</a:pPr>
            <a:endParaRPr lang="en-GB" sz="1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>
              <a:lnSpc>
                <a:spcPct val="11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Limitations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CTGAN and TVAE models require intensive GPU computation and long convergence times,  especially during hyperparameter tuning and multi-round validation.</a:t>
            </a:r>
            <a:endParaRPr lang="en-GB" sz="1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>
              <a:lnSpc>
                <a:spcPct val="110000"/>
              </a:lnSpc>
            </a:pPr>
            <a:endParaRPr lang="en-GB" sz="1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>
              <a:lnSpc>
                <a:spcPct val="11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Planned Extensions</a:t>
            </a: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Longitudinal </a:t>
            </a:r>
            <a:r>
              <a:rPr lang="en-GB" sz="1800" dirty="0" err="1">
                <a:latin typeface="Poppins" panose="00000500000000000000" pitchFamily="2" charset="0"/>
                <a:cs typeface="Poppins" panose="00000500000000000000" pitchFamily="2" charset="0"/>
              </a:rPr>
              <a:t>modeling</a:t>
            </a: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 using LSTMs/Transformers.</a:t>
            </a: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Expansion to constructs like resilience, belonging, digital engagement.</a:t>
            </a: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Causal inference methods for bias auditing.</a:t>
            </a:r>
          </a:p>
          <a:p>
            <a:pPr marL="342900" indent="-342900" algn="just">
              <a:lnSpc>
                <a:spcPct val="110000"/>
              </a:lnSpc>
              <a:buAutoNum type="arabicPeriod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Real-time dashboards for explainable student analytics.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GB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>
              <a:lnSpc>
                <a:spcPct val="110000"/>
              </a:lnSpc>
            </a:pPr>
            <a:r>
              <a:rPr lang="en-GB" sz="1800" b="1" dirty="0">
                <a:latin typeface="Poppins" panose="00000500000000000000" pitchFamily="2" charset="0"/>
                <a:cs typeface="Poppins" panose="00000500000000000000" pitchFamily="2" charset="0"/>
              </a:rPr>
              <a:t>Vision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800" b="1" dirty="0"/>
              <a:t>From data protection to data enrichment — advancing ethical, fair, and human-</a:t>
            </a:r>
            <a:r>
              <a:rPr lang="en-GB" sz="1800" b="1" dirty="0" err="1"/>
              <a:t>centered</a:t>
            </a:r>
            <a:r>
              <a:rPr lang="en-GB" sz="1800" b="1" dirty="0"/>
              <a:t> AI.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US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FA252-DFE8-FF12-9D1B-1F842C02E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673125-3F15-A154-E0C5-0DA346BD5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844" y="6123640"/>
            <a:ext cx="1074765" cy="734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39348A-8274-E40A-4A52-0961965A6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610" y="6123640"/>
            <a:ext cx="1828800" cy="734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C1E0FB-46D2-9CC8-E661-549831C701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66" y="6058063"/>
            <a:ext cx="1538344" cy="7999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0769AC-BBB0-A8A3-1226-D63B1A5A4814}"/>
              </a:ext>
            </a:extLst>
          </p:cNvPr>
          <p:cNvSpPr txBox="1"/>
          <p:nvPr/>
        </p:nvSpPr>
        <p:spPr>
          <a:xfrm>
            <a:off x="838199" y="5793504"/>
            <a:ext cx="982287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/>
              <a:t>*Conditional Tabular </a:t>
            </a:r>
            <a:r>
              <a:rPr lang="en-US" sz="900" dirty="0"/>
              <a:t>Generative Adversarial Networks (GANs) </a:t>
            </a:r>
            <a:r>
              <a:rPr lang="en-GB" sz="900" dirty="0"/>
              <a:t>(CTGAN)     *</a:t>
            </a:r>
            <a:r>
              <a:rPr lang="en-US" sz="900" dirty="0"/>
              <a:t>Tabular Variational Autoencoders (TVAE) 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2350851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25D7A-64F7-E396-95BE-B0FC86E1B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D7A12-B2E8-1E19-0CC3-7A3764257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2A1CB-FC7D-891B-DD9F-44DAA0712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943"/>
            <a:ext cx="10675776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sz="1500" dirty="0">
                <a:latin typeface="Poppins" panose="00000500000000000000" pitchFamily="50" charset="0"/>
                <a:cs typeface="Poppins" panose="00000500000000000000" pitchFamily="50" charset="0"/>
              </a:rPr>
              <a:t>Rabelo, A. M., &amp; Zárate, L. E. (2025). </a:t>
            </a:r>
            <a:r>
              <a:rPr lang="en-US" sz="1500" dirty="0">
                <a:latin typeface="Poppins" panose="00000500000000000000" pitchFamily="50" charset="0"/>
                <a:cs typeface="Poppins" panose="00000500000000000000" pitchFamily="50" charset="0"/>
              </a:rPr>
              <a:t>A model for predicting dropout of higher education students. Data Science and Management, 8(1), 72-85.</a:t>
            </a:r>
          </a:p>
          <a:p>
            <a:pPr algn="just"/>
            <a:r>
              <a:rPr lang="en-US" sz="1500" dirty="0">
                <a:latin typeface="Poppins" panose="00000500000000000000" pitchFamily="50" charset="0"/>
                <a:cs typeface="Poppins" panose="00000500000000000000" pitchFamily="50" charset="0"/>
              </a:rPr>
              <a:t>V. Tinto. Dropout from higher education: A theoretical synthesis of recent research. Review of educational research, 45(1):89–125, 1975.</a:t>
            </a:r>
          </a:p>
          <a:p>
            <a:pPr algn="just"/>
            <a:r>
              <a:rPr lang="en-US" sz="1500" dirty="0">
                <a:latin typeface="Poppins" panose="00000500000000000000" pitchFamily="50" charset="0"/>
                <a:cs typeface="Poppins" panose="00000500000000000000" pitchFamily="50" charset="0"/>
              </a:rPr>
              <a:t>Trinidad, J.E., San Andres, A.N., </a:t>
            </a:r>
            <a:r>
              <a:rPr lang="en-US" sz="1500" dirty="0" err="1">
                <a:latin typeface="Poppins" panose="00000500000000000000" pitchFamily="50" charset="0"/>
                <a:cs typeface="Poppins" panose="00000500000000000000" pitchFamily="50" charset="0"/>
              </a:rPr>
              <a:t>Garnace</a:t>
            </a:r>
            <a:r>
              <a:rPr lang="en-US" sz="1500" dirty="0">
                <a:latin typeface="Poppins" panose="00000500000000000000" pitchFamily="50" charset="0"/>
                <a:cs typeface="Poppins" panose="00000500000000000000" pitchFamily="50" charset="0"/>
              </a:rPr>
              <a:t>, P.L. and Guevarra, S., 2022. Ef-  </a:t>
            </a:r>
            <a:r>
              <a:rPr lang="en-US" sz="1500" dirty="0" err="1">
                <a:latin typeface="Poppins" panose="00000500000000000000" pitchFamily="50" charset="0"/>
                <a:cs typeface="Poppins" panose="00000500000000000000" pitchFamily="50" charset="0"/>
              </a:rPr>
              <a:t>fective</a:t>
            </a:r>
            <a:r>
              <a:rPr lang="en-US" sz="1500" dirty="0">
                <a:latin typeface="Poppins" panose="00000500000000000000" pitchFamily="50" charset="0"/>
                <a:cs typeface="Poppins" panose="00000500000000000000" pitchFamily="50" charset="0"/>
              </a:rPr>
              <a:t> Subunits in Ineffective Systems? The Challenge of Data Use in Higher Education.</a:t>
            </a:r>
          </a:p>
          <a:p>
            <a:pPr algn="just"/>
            <a:r>
              <a:rPr lang="en-US" sz="1500" dirty="0">
                <a:latin typeface="Poppins" panose="00000500000000000000" pitchFamily="50" charset="0"/>
                <a:cs typeface="Poppins" panose="00000500000000000000" pitchFamily="50" charset="0"/>
              </a:rPr>
              <a:t>OECD (2022). Education at a glance 2022. OECD Publishing, Paris, France.</a:t>
            </a:r>
          </a:p>
          <a:p>
            <a:r>
              <a:rPr lang="en-US" sz="1500" dirty="0">
                <a:latin typeface="Poppins" panose="00000500000000000000" pitchFamily="50" charset="0"/>
                <a:cs typeface="Poppins" panose="00000500000000000000" pitchFamily="50" charset="0"/>
              </a:rPr>
              <a:t> </a:t>
            </a:r>
            <a:r>
              <a:rPr lang="en-US" sz="1500" dirty="0" err="1">
                <a:latin typeface="Poppins" panose="00000500000000000000" pitchFamily="50" charset="0"/>
                <a:cs typeface="Poppins" panose="00000500000000000000" pitchFamily="50" charset="0"/>
              </a:rPr>
              <a:t>AACRAO,Comparing</a:t>
            </a:r>
            <a:r>
              <a:rPr lang="en-US" sz="1500" dirty="0">
                <a:latin typeface="Poppins" panose="00000500000000000000" pitchFamily="50" charset="0"/>
                <a:cs typeface="Poppins" panose="00000500000000000000" pitchFamily="50" charset="0"/>
              </a:rPr>
              <a:t> FERPA &amp; GDPR, accessed January 4, 2025, </a:t>
            </a:r>
            <a:r>
              <a:rPr lang="en-US" sz="1500" dirty="0">
                <a:latin typeface="Poppins" panose="00000500000000000000" pitchFamily="50" charset="0"/>
                <a:cs typeface="Poppins" panose="00000500000000000000" pitchFamily="50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https://www.aacrao.org/resources/newsletters-blogs/aacrao-connect/article/comparing-ferpa---gdpr</a:t>
            </a:r>
            <a:endParaRPr lang="en-US" sz="1500" dirty="0">
              <a:latin typeface="Poppins" panose="00000500000000000000" pitchFamily="50" charset="0"/>
              <a:cs typeface="Poppins" panose="00000500000000000000" pitchFamily="50" charset="0"/>
            </a:endParaRPr>
          </a:p>
          <a:p>
            <a:r>
              <a:rPr lang="en-US" sz="1500" dirty="0">
                <a:latin typeface="Poppins" panose="00000500000000000000" pitchFamily="50" charset="0"/>
                <a:cs typeface="Poppins" panose="00000500000000000000" pitchFamily="50" charset="0"/>
              </a:rPr>
              <a:t>Vygotsky, L. S. (1978). Mind in Society: The Development of Higher Psychological Processes. Harvard University Press. </a:t>
            </a:r>
          </a:p>
          <a:p>
            <a:r>
              <a:rPr lang="en-US" sz="1500" dirty="0">
                <a:latin typeface="Poppins" panose="00000500000000000000" pitchFamily="50" charset="0"/>
                <a:cs typeface="Poppins" panose="00000500000000000000" pitchFamily="50" charset="0"/>
              </a:rPr>
              <a:t>Deci, E. L., &amp; Ryan, R. M. (1985). Intrinsic Motivation and Self-Determination in Human Behavior. Springer.</a:t>
            </a:r>
          </a:p>
          <a:p>
            <a:r>
              <a:rPr lang="en-US" sz="1500" dirty="0">
                <a:latin typeface="Poppins" panose="00000500000000000000" pitchFamily="50" charset="0"/>
                <a:cs typeface="Poppins" panose="00000500000000000000" pitchFamily="50" charset="0"/>
              </a:rPr>
              <a:t>Khalil, M., </a:t>
            </a:r>
            <a:r>
              <a:rPr lang="en-US" sz="1500" dirty="0" err="1">
                <a:latin typeface="Poppins" panose="00000500000000000000" pitchFamily="50" charset="0"/>
                <a:cs typeface="Poppins" panose="00000500000000000000" pitchFamily="50" charset="0"/>
              </a:rPr>
              <a:t>Vadiee</a:t>
            </a:r>
            <a:r>
              <a:rPr lang="en-US" sz="1500" dirty="0">
                <a:latin typeface="Poppins" panose="00000500000000000000" pitchFamily="50" charset="0"/>
                <a:cs typeface="Poppins" panose="00000500000000000000" pitchFamily="50" charset="0"/>
              </a:rPr>
              <a:t>, F., Shakya, R., &amp; Liu, Q. (2025, March). Creating artificial students that never existed: Leveraging large language models and CTGANs for synthetic data generation. In Proceedings of the 15th International Learning Analytics and Knowledge Conference (pp. 439-450).</a:t>
            </a:r>
          </a:p>
          <a:p>
            <a:r>
              <a:rPr lang="en-US" sz="1500" dirty="0">
                <a:latin typeface="Poppins" panose="00000500000000000000" pitchFamily="50" charset="0"/>
                <a:cs typeface="Poppins" panose="00000500000000000000" pitchFamily="50" charset="0"/>
              </a:rPr>
              <a:t>Patki, N., Wedge, R., &amp; Veeramachaneni, K. (2016). The Synthetic Data Vault. </a:t>
            </a:r>
            <a:r>
              <a:rPr lang="en-US" sz="1500" dirty="0" err="1">
                <a:latin typeface="Poppins" panose="00000500000000000000" pitchFamily="50" charset="0"/>
                <a:cs typeface="Poppins" panose="00000500000000000000" pitchFamily="50" charset="0"/>
              </a:rPr>
              <a:t>DataSci</a:t>
            </a:r>
            <a:r>
              <a:rPr lang="en-US" sz="1500" dirty="0">
                <a:latin typeface="Poppins" panose="00000500000000000000" pitchFamily="50" charset="0"/>
                <a:cs typeface="Poppins" panose="00000500000000000000" pitchFamily="50" charset="0"/>
              </a:rPr>
              <a:t> and Advanced </a:t>
            </a:r>
          </a:p>
          <a:p>
            <a:pPr marL="0" indent="0">
              <a:buNone/>
            </a:pPr>
            <a:r>
              <a:rPr lang="en-US" sz="1500" dirty="0">
                <a:latin typeface="Poppins" panose="00000500000000000000" pitchFamily="50" charset="0"/>
                <a:cs typeface="Poppins" panose="00000500000000000000" pitchFamily="50" charset="0"/>
              </a:rPr>
              <a:t>Analytics (DSAA). </a:t>
            </a:r>
            <a:r>
              <a:rPr lang="en-US" sz="1500" dirty="0">
                <a:latin typeface="Poppins" panose="00000500000000000000" pitchFamily="50" charset="0"/>
                <a:cs typeface="Poppins" panose="00000500000000000000" pitchFamily="50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https://arxiv.org/abs/1606.02944</a:t>
            </a:r>
            <a:endParaRPr lang="en-GB" sz="1500" dirty="0">
              <a:latin typeface="Poppins" panose="00000500000000000000" pitchFamily="50" charset="0"/>
              <a:cs typeface="Poppins" panose="00000500000000000000" pitchFamily="50" charset="0"/>
            </a:endParaRPr>
          </a:p>
          <a:p>
            <a:endParaRPr lang="en-US" sz="1500" dirty="0">
              <a:latin typeface="Poppins" panose="00000500000000000000" pitchFamily="50" charset="0"/>
              <a:cs typeface="Poppins" panose="00000500000000000000" pitchFamily="50" charset="0"/>
            </a:endParaRPr>
          </a:p>
          <a:p>
            <a:endParaRPr lang="en-US" sz="1500" dirty="0">
              <a:latin typeface="Poppins" panose="00000500000000000000" pitchFamily="50" charset="0"/>
              <a:cs typeface="Poppins" panose="00000500000000000000" pitchFamily="50" charset="0"/>
            </a:endParaRPr>
          </a:p>
          <a:p>
            <a:endParaRPr lang="en-US" sz="2000" dirty="0">
              <a:latin typeface="Poppins" panose="00000500000000000000" pitchFamily="50" charset="0"/>
              <a:cs typeface="Poppins" panose="00000500000000000000" pitchFamily="50" charset="0"/>
            </a:endParaRPr>
          </a:p>
          <a:p>
            <a:endParaRPr lang="en-US" sz="2000" dirty="0"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0F580-3996-50E0-030B-1CF4DC04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EF558-7DD7-730E-3254-91F9D3C07C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844" y="6123640"/>
            <a:ext cx="1074765" cy="734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3172FE-DA33-7F96-D0D4-44C564749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8610" y="6123640"/>
            <a:ext cx="1828800" cy="734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04D5A6-0176-9C30-97CE-B9EFB749E0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66" y="6058063"/>
            <a:ext cx="1538344" cy="79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888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FB897-3F01-CC22-C578-4EFF73F09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D39FF-8D5B-C35C-D529-55F71533E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091" y="365125"/>
            <a:ext cx="10314709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3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Unlocking the Future of Ethics: Leveraging Synthetic Data to Improve Higher Education Dropout Prediction with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D48B0A-3E0A-DBC1-7852-B94247500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16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743C53-3751-CFD6-B779-649A649AB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844" y="6123640"/>
            <a:ext cx="1074765" cy="734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6A8AC4-4B3D-6B9D-A1B3-0A00CCE7C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610" y="6123640"/>
            <a:ext cx="1828800" cy="734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FC4118-3913-7880-ED4F-2ED86F685C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66" y="6058063"/>
            <a:ext cx="1538344" cy="799937"/>
          </a:xfrm>
          <a:prstGeom prst="rect">
            <a:avLst/>
          </a:prstGeom>
        </p:spPr>
      </p:pic>
      <p:sp>
        <p:nvSpPr>
          <p:cNvPr id="8" name="Freeform 19">
            <a:extLst>
              <a:ext uri="{FF2B5EF4-FFF2-40B4-BE49-F238E27FC236}">
                <a16:creationId xmlns:a16="http://schemas.microsoft.com/office/drawing/2014/main" id="{502A07CF-6799-AC05-6230-7A5F4FADDBB9}"/>
              </a:ext>
            </a:extLst>
          </p:cNvPr>
          <p:cNvSpPr/>
          <p:nvPr/>
        </p:nvSpPr>
        <p:spPr>
          <a:xfrm>
            <a:off x="0" y="1690688"/>
            <a:ext cx="2013621" cy="4286032"/>
          </a:xfrm>
          <a:custGeom>
            <a:avLst/>
            <a:gdLst/>
            <a:ahLst/>
            <a:cxnLst/>
            <a:rect l="l" t="t" r="r" b="b"/>
            <a:pathLst>
              <a:path w="3184519" h="6600039">
                <a:moveTo>
                  <a:pt x="0" y="0"/>
                </a:moveTo>
                <a:lnTo>
                  <a:pt x="3184519" y="0"/>
                </a:lnTo>
                <a:lnTo>
                  <a:pt x="3184519" y="6600039"/>
                </a:lnTo>
                <a:lnTo>
                  <a:pt x="0" y="66000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Google Shape;2474;p47">
            <a:extLst>
              <a:ext uri="{FF2B5EF4-FFF2-40B4-BE49-F238E27FC236}">
                <a16:creationId xmlns:a16="http://schemas.microsoft.com/office/drawing/2014/main" id="{EE0586CA-743B-1FB1-2ACF-E4C175E5E201}"/>
              </a:ext>
            </a:extLst>
          </p:cNvPr>
          <p:cNvSpPr txBox="1">
            <a:spLocks/>
          </p:cNvSpPr>
          <p:nvPr/>
        </p:nvSpPr>
        <p:spPr>
          <a:xfrm>
            <a:off x="3014619" y="2296753"/>
            <a:ext cx="5712000" cy="1132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it-IT"/>
            </a:defPPr>
            <a:lvl1pPr marL="0" marR="0" lvl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us Jakarta Sans ExtraBold"/>
              <a:buNone/>
              <a:defRPr sz="3000" b="0" i="0" u="none" strike="noStrike" kern="1200" cap="none">
                <a:solidFill>
                  <a:schemeClr val="dk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marL="457200" marR="0" lvl="1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Black"/>
              <a:buNone/>
              <a:defRPr sz="3500" b="0" i="0" u="none" strike="noStrike" kern="1200" cap="none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2pPr>
            <a:lvl3pPr marL="914400" marR="0" lvl="2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Black"/>
              <a:buNone/>
              <a:defRPr sz="3500" b="0" i="0" u="none" strike="noStrike" kern="1200" cap="none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3pPr>
            <a:lvl4pPr marL="1371600" marR="0" lvl="3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Black"/>
              <a:buNone/>
              <a:defRPr sz="3500" b="0" i="0" u="none" strike="noStrike" kern="1200" cap="none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4pPr>
            <a:lvl5pPr marL="1828800" marR="0" lvl="4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Black"/>
              <a:buNone/>
              <a:defRPr sz="3500" b="0" i="0" u="none" strike="noStrike" kern="1200" cap="none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5pPr>
            <a:lvl6pPr marL="2286000" marR="0" lvl="5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Black"/>
              <a:buNone/>
              <a:defRPr sz="3500" b="0" i="0" u="none" strike="noStrike" kern="1200" cap="none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6pPr>
            <a:lvl7pPr marL="2743200" marR="0" lvl="6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Black"/>
              <a:buNone/>
              <a:defRPr sz="3500" b="0" i="0" u="none" strike="noStrike" kern="1200" cap="none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7pPr>
            <a:lvl8pPr marL="3200400" marR="0" lvl="7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Black"/>
              <a:buNone/>
              <a:defRPr sz="3500" b="0" i="0" u="none" strike="noStrike" kern="1200" cap="none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8pPr>
            <a:lvl9pPr marL="3657600" marR="0" lvl="8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Black"/>
              <a:buNone/>
              <a:defRPr sz="3500" b="0" i="0" u="none" strike="noStrike" kern="1200" cap="none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9pPr>
          </a:lstStyle>
          <a:p>
            <a:r>
              <a:rPr lang="en-US" sz="8000" dirty="0">
                <a:latin typeface="Poppins" panose="00000500000000000000" pitchFamily="2" charset="0"/>
                <a:cs typeface="Poppins" panose="00000500000000000000" pitchFamily="2" charset="0"/>
              </a:rPr>
              <a:t>Thanks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F46DB99-B17A-B63C-FED0-9616B5ADC05A}"/>
              </a:ext>
            </a:extLst>
          </p:cNvPr>
          <p:cNvSpPr txBox="1">
            <a:spLocks/>
          </p:cNvSpPr>
          <p:nvPr/>
        </p:nvSpPr>
        <p:spPr>
          <a:xfrm>
            <a:off x="1039091" y="2303782"/>
            <a:ext cx="9628909" cy="2370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br>
              <a:rPr lang="en-GB" sz="3600" dirty="0">
                <a:solidFill>
                  <a:schemeClr val="accent6">
                    <a:lumMod val="75000"/>
                  </a:schemeClr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</a:br>
            <a:endParaRPr lang="en-US" sz="3600" dirty="0">
              <a:solidFill>
                <a:schemeClr val="accent6">
                  <a:lumMod val="75000"/>
                </a:schemeClr>
              </a:solidFill>
              <a:latin typeface="Poppins SemiBold" panose="00000700000000000000" pitchFamily="50" charset="0"/>
              <a:cs typeface="Poppins SemiBold" panose="00000700000000000000" pitchFamily="50" charset="0"/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F156FD3C-4FF1-30FA-8372-6D4299E712CE}"/>
              </a:ext>
            </a:extLst>
          </p:cNvPr>
          <p:cNvSpPr/>
          <p:nvPr/>
        </p:nvSpPr>
        <p:spPr>
          <a:xfrm flipV="1">
            <a:off x="1257378" y="2802341"/>
            <a:ext cx="6920875" cy="462752"/>
          </a:xfrm>
          <a:prstGeom prst="arc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0B149C-5176-F76E-12C8-800AB70275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943" y="1956111"/>
            <a:ext cx="2756344" cy="128764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B5645C-9A87-81CA-3CB4-04534874BE7E}"/>
              </a:ext>
            </a:extLst>
          </p:cNvPr>
          <p:cNvSpPr/>
          <p:nvPr/>
        </p:nvSpPr>
        <p:spPr>
          <a:xfrm>
            <a:off x="1814917" y="3243759"/>
            <a:ext cx="8642789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en-US" sz="2000" b="1" dirty="0">
              <a:solidFill>
                <a:srgbClr val="148A43"/>
              </a:solidFill>
              <a:latin typeface="Poppins" panose="00000500000000000000" pitchFamily="50" charset="0"/>
              <a:cs typeface="Poppins" panose="00000500000000000000" pitchFamily="50" charset="0"/>
              <a:sym typeface="Plus Jakarta Sans ExtraBold"/>
            </a:endParaRPr>
          </a:p>
          <a:p>
            <a:pPr lvl="0"/>
            <a:r>
              <a:rPr lang="en-US" sz="2000" b="1" dirty="0">
                <a:solidFill>
                  <a:srgbClr val="148A43"/>
                </a:solidFill>
                <a:latin typeface="Poppins" panose="00000500000000000000" pitchFamily="50" charset="0"/>
                <a:cs typeface="Poppins" panose="00000500000000000000" pitchFamily="50" charset="0"/>
                <a:sym typeface="Plus Jakarta Sans ExtraBold"/>
              </a:rPr>
              <a:t>QUESTIONS, SUGGESTIONS AND COMMENTS ARE VERY WELCOME</a:t>
            </a:r>
          </a:p>
          <a:p>
            <a:pPr lvl="0"/>
            <a:endParaRPr lang="en-US" sz="2000" b="1" dirty="0">
              <a:solidFill>
                <a:srgbClr val="148A43"/>
              </a:solidFill>
              <a:latin typeface="Poppins" panose="00000500000000000000" pitchFamily="50" charset="0"/>
              <a:cs typeface="Poppins" panose="00000500000000000000" pitchFamily="50" charset="0"/>
              <a:sym typeface="Plus Jakarta Sans ExtraBold"/>
            </a:endParaRPr>
          </a:p>
          <a:p>
            <a:pPr lvl="0"/>
            <a:r>
              <a:rPr lang="en-US" sz="2000" b="1" dirty="0">
                <a:solidFill>
                  <a:srgbClr val="148A43"/>
                </a:solidFill>
                <a:latin typeface="Poppins" panose="00000500000000000000" pitchFamily="50" charset="0"/>
                <a:cs typeface="Poppins" panose="00000500000000000000" pitchFamily="50" charset="0"/>
                <a:sym typeface="Plus Jakarta Sans ExtraBold"/>
              </a:rPr>
              <a:t>		     MUAHAMMAD AMIN NADIM</a:t>
            </a:r>
          </a:p>
          <a:p>
            <a:r>
              <a:rPr lang="en-US" dirty="0">
                <a:sym typeface="Plus Jakarta Sans ExtraBold"/>
              </a:rPr>
              <a:t>		           </a:t>
            </a:r>
            <a:r>
              <a:rPr lang="en-US" dirty="0">
                <a:sym typeface="Plus Jakarta Sans ExtraBold"/>
                <a:hlinkClick r:id="rId7"/>
              </a:rPr>
              <a:t>muhammad.nadim@unipegaso.it</a:t>
            </a:r>
            <a:endParaRPr lang="en-US" b="1" dirty="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lvl="0"/>
            <a:endParaRPr lang="en-US" b="1" dirty="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lvl="0"/>
            <a:endParaRPr lang="en-US" b="1" dirty="0"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6726BEE-8B80-D106-1BA2-4F4DDC3F87A4}"/>
              </a:ext>
            </a:extLst>
          </p:cNvPr>
          <p:cNvSpPr txBox="1">
            <a:spLocks/>
          </p:cNvSpPr>
          <p:nvPr/>
        </p:nvSpPr>
        <p:spPr>
          <a:xfrm>
            <a:off x="4424700" y="293800"/>
            <a:ext cx="2676742" cy="601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F67E20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148A43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148A43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148A43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148A43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PAPER ID: </a:t>
            </a:r>
            <a:r>
              <a:rPr lang="en-GB" sz="16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2025051026</a:t>
            </a:r>
            <a:endParaRPr lang="en-US" sz="1600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536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2026</Words>
  <Application>Microsoft Office PowerPoint</Application>
  <PresentationFormat>Widescreen</PresentationFormat>
  <Paragraphs>241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Plus Jakarta Sans ExtraBold</vt:lpstr>
      <vt:lpstr>Poppins</vt:lpstr>
      <vt:lpstr>Poppins Light</vt:lpstr>
      <vt:lpstr>Poppins SemiBold</vt:lpstr>
      <vt:lpstr>Times New Roman</vt:lpstr>
      <vt:lpstr>Office Theme</vt:lpstr>
      <vt:lpstr>Unlocking the Future of Ethics: Leveraging Synthetic Data to Improve Higher Education Dropout Prediction with Machine Learning </vt:lpstr>
      <vt:lpstr>Introduction</vt:lpstr>
      <vt:lpstr>Why This Study is Important</vt:lpstr>
      <vt:lpstr>Research Purpose and Objectives</vt:lpstr>
      <vt:lpstr>Research Questions Focused </vt:lpstr>
      <vt:lpstr>Theoretical Foundation</vt:lpstr>
      <vt:lpstr>Proposed Framework Overview Constructivist–Ethical Data Augmentation (CEDA) Framework</vt:lpstr>
      <vt:lpstr>Ethical Synthetic Data Creation (CTGAN &amp; TVAE)</vt:lpstr>
      <vt:lpstr>Methodological Design</vt:lpstr>
      <vt:lpstr>Model Training &amp; Observations</vt:lpstr>
      <vt:lpstr>Ethical Validation of Predictions</vt:lpstr>
      <vt:lpstr>Major Findings and Research Contributions</vt:lpstr>
      <vt:lpstr>Educational and Ethical Implications</vt:lpstr>
      <vt:lpstr>Limitations &amp; Path Forward</vt:lpstr>
      <vt:lpstr>References</vt:lpstr>
      <vt:lpstr>Unlocking the Future of Ethics: Leveraging Synthetic Data to Improve Higher Education Dropout Prediction with Machine Learning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EXAMPLE</dc:title>
  <dc:creator>Hough,Mackenzie C</dc:creator>
  <cp:lastModifiedBy>Raffaele Di Fuccio</cp:lastModifiedBy>
  <cp:revision>292</cp:revision>
  <dcterms:created xsi:type="dcterms:W3CDTF">2020-06-04T14:26:59Z</dcterms:created>
  <dcterms:modified xsi:type="dcterms:W3CDTF">2025-10-29T18:34:40Z</dcterms:modified>
</cp:coreProperties>
</file>